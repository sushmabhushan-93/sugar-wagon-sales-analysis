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Mate"/>
      <p:regular r:id="rId39"/>
      <p:italic r:id="rId40"/>
    </p:embeddedFont>
    <p:embeddedFont>
      <p:font typeface="Raleway SemiBold"/>
      <p:regular r:id="rId41"/>
      <p:bold r:id="rId42"/>
      <p:italic r:id="rId43"/>
      <p:boldItalic r:id="rId44"/>
    </p:embeddedFont>
    <p:embeddedFont>
      <p:font typeface="PT Sans Narrow"/>
      <p:regular r:id="rId45"/>
      <p:bold r:id="rId46"/>
    </p:embeddedFont>
    <p:embeddedFont>
      <p:font typeface="Raleway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te-italic.fntdata"/><Relationship Id="rId42" Type="http://schemas.openxmlformats.org/officeDocument/2006/relationships/font" Target="fonts/RalewaySemiBold-bold.fntdata"/><Relationship Id="rId41" Type="http://schemas.openxmlformats.org/officeDocument/2006/relationships/font" Target="fonts/RalewaySemiBold-regular.fntdata"/><Relationship Id="rId44" Type="http://schemas.openxmlformats.org/officeDocument/2006/relationships/font" Target="fonts/RalewaySemiBold-boldItalic.fntdata"/><Relationship Id="rId43" Type="http://schemas.openxmlformats.org/officeDocument/2006/relationships/font" Target="fonts/RalewaySemiBold-italic.fntdata"/><Relationship Id="rId46" Type="http://schemas.openxmlformats.org/officeDocument/2006/relationships/font" Target="fonts/PTSansNarrow-bold.fntdata"/><Relationship Id="rId45" Type="http://schemas.openxmlformats.org/officeDocument/2006/relationships/font" Target="fonts/PTSansNarrow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RalewayMedium-bold.fntdata"/><Relationship Id="rId47" Type="http://schemas.openxmlformats.org/officeDocument/2006/relationships/font" Target="fonts/RalewayMedium-regular.fntdata"/><Relationship Id="rId49" Type="http://schemas.openxmlformats.org/officeDocument/2006/relationships/font" Target="fonts/Raleway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aleway-regular.fntdata"/><Relationship Id="rId34" Type="http://schemas.openxmlformats.org/officeDocument/2006/relationships/slide" Target="slides/slide29.xml"/><Relationship Id="rId37" Type="http://schemas.openxmlformats.org/officeDocument/2006/relationships/font" Target="fonts/Raleway-italic.fntdata"/><Relationship Id="rId36" Type="http://schemas.openxmlformats.org/officeDocument/2006/relationships/font" Target="fonts/Raleway-bold.fntdata"/><Relationship Id="rId39" Type="http://schemas.openxmlformats.org/officeDocument/2006/relationships/font" Target="fonts/Mate-regular.fntdata"/><Relationship Id="rId38" Type="http://schemas.openxmlformats.org/officeDocument/2006/relationships/font" Target="fonts/Raleway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Raleway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1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7" name="Google Shape;937;p2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8" name="Google Shape;938;p21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0" name="Google Shape;940;p2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2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p2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p22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3" name="Google Shape;953;p2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3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p2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3" name="Google Shape;963;p23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p2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2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p2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6" name="Google Shape;976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7" name="Google Shape;977;p2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2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etrix Title Page">
  <p:cSld name="Scaletrix Title Pag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4250" l="0" r="5636" t="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112ad33c5_7_0)">
  <p:cSld name="Generated (g3e112ad33c5_7_0)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050d341_58_0)">
  <p:cSld name="Generated (g3e32050d341_58_0)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idx="1" type="body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idx="1" type="body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3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>
            <p:ph idx="2" type="pic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 and two columns 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2"/>
          <p:cNvSpPr txBox="1"/>
          <p:nvPr>
            <p:ph idx="2" type="subTitle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3" type="subTitle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4" type="subTitle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etrix Title Page 1 1">
  <p:cSld name="Scaletrix Title Page (g3e9fc82e333_7_0)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6279060" y="2107188"/>
            <a:ext cx="54558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etrix Title Page 1">
  <p:cSld name="Scaletrix Title Page (g3e9fc82e333_14_0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" type="subTitle"/>
          </p:nvPr>
        </p:nvSpPr>
        <p:spPr>
          <a:xfrm>
            <a:off x="6279060" y="2107188"/>
            <a:ext cx="54558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112ad33c5_7_0)">
  <p:cSld name="Generated (g3e112ad33c5_7_0)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etrix Title Page">
  <p:cSld name="Scaletrix Title Pag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/>
          <p:nvPr/>
        </p:nvSpPr>
        <p:spPr>
          <a:xfrm>
            <a:off x="-67" y="0"/>
            <a:ext cx="12192000" cy="632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20"/>
          <p:cNvPicPr preferRelativeResize="0"/>
          <p:nvPr/>
        </p:nvPicPr>
        <p:blipFill rotWithShape="1">
          <a:blip r:embed="rId2">
            <a:alphaModFix/>
          </a:blip>
          <a:srcRect b="4250" l="0" r="5636" t="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0"/>
          <p:cNvSpPr/>
          <p:nvPr/>
        </p:nvSpPr>
        <p:spPr>
          <a:xfrm>
            <a:off x="0" y="0"/>
            <a:ext cx="12195000" cy="524700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0"/>
          <p:cNvSpPr txBox="1"/>
          <p:nvPr>
            <p:ph idx="1" type="subTitle"/>
          </p:nvPr>
        </p:nvSpPr>
        <p:spPr>
          <a:xfrm>
            <a:off x="6279060" y="2107188"/>
            <a:ext cx="54558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idx="1" type="subTitle"/>
          </p:nvPr>
        </p:nvSpPr>
        <p:spPr>
          <a:xfrm>
            <a:off x="2840535" y="4195828"/>
            <a:ext cx="64941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838200" y="2023409"/>
            <a:ext cx="10515600" cy="3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2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15600" y="4289085"/>
            <a:ext cx="114285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81404" y="527012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/>
          <p:nvPr>
            <p:ph idx="1" type="body"/>
          </p:nvPr>
        </p:nvSpPr>
        <p:spPr>
          <a:xfrm>
            <a:off x="415600" y="1672836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3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5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/>
          <p:nvPr>
            <p:ph idx="2" type="pic"/>
          </p:nvPr>
        </p:nvSpPr>
        <p:spPr>
          <a:xfrm>
            <a:off x="5183188" y="2049463"/>
            <a:ext cx="6172200" cy="3811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839788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6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415600" y="2602499"/>
            <a:ext cx="11360700" cy="3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7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 and two columns 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idx="1" type="subTitle"/>
          </p:nvPr>
        </p:nvSpPr>
        <p:spPr>
          <a:xfrm>
            <a:off x="1802727" y="3860800"/>
            <a:ext cx="3646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8"/>
          <p:cNvSpPr txBox="1"/>
          <p:nvPr>
            <p:ph idx="2" type="subTitle"/>
          </p:nvPr>
        </p:nvSpPr>
        <p:spPr>
          <a:xfrm>
            <a:off x="1802727" y="4362700"/>
            <a:ext cx="36462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8"/>
          <p:cNvSpPr txBox="1"/>
          <p:nvPr>
            <p:ph idx="3" type="subTitle"/>
          </p:nvPr>
        </p:nvSpPr>
        <p:spPr>
          <a:xfrm>
            <a:off x="6743027" y="3860800"/>
            <a:ext cx="3646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8"/>
          <p:cNvSpPr txBox="1"/>
          <p:nvPr>
            <p:ph idx="4" type="subTitle"/>
          </p:nvPr>
        </p:nvSpPr>
        <p:spPr>
          <a:xfrm>
            <a:off x="6743027" y="4362700"/>
            <a:ext cx="36462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8"/>
          <p:cNvSpPr txBox="1"/>
          <p:nvPr>
            <p:ph type="title"/>
          </p:nvPr>
        </p:nvSpPr>
        <p:spPr>
          <a:xfrm>
            <a:off x="403199" y="115200"/>
            <a:ext cx="10551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08" name="Google Shape;108;p28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/>
          <p:nvPr>
            <p:ph type="title"/>
          </p:nvPr>
        </p:nvSpPr>
        <p:spPr>
          <a:xfrm>
            <a:off x="415600" y="2236481"/>
            <a:ext cx="11360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5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" name="Google Shape;111;p29"/>
          <p:cNvSpPr txBox="1"/>
          <p:nvPr>
            <p:ph idx="1" type="body"/>
          </p:nvPr>
        </p:nvSpPr>
        <p:spPr>
          <a:xfrm>
            <a:off x="415600" y="4490881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5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050d341_58_0)">
  <p:cSld name="Generated (g3e32050d341_58_0)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1" name="Google Shape;11;p1"/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03200" y="115200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0" y="6331389"/>
            <a:ext cx="12195000" cy="524700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Raleway"/>
              <a:buNone/>
              <a:defRPr b="0" i="0" sz="13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 txBox="1"/>
          <p:nvPr/>
        </p:nvSpPr>
        <p:spPr>
          <a:xfrm>
            <a:off x="6300218" y="1347837"/>
            <a:ext cx="4741200" cy="43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IN" sz="266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IN" sz="266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Sugar Wagon Analytics - Sales prediction </a:t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t/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IN" sz="266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IN" sz="266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Sushma Bhushan</a:t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t/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IN" sz="266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endParaRPr b="1" i="0" sz="2665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IN" sz="266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11-05-2026</a:t>
            </a:r>
            <a:endParaRPr b="0" i="0" sz="1865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5"/>
              <a:buFont typeface="Arial"/>
              <a:buNone/>
            </a:pPr>
            <a:r>
              <a:t/>
            </a:r>
            <a:endParaRPr b="0" i="0" sz="1865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5"/>
              <a:buFont typeface="Arial"/>
              <a:buNone/>
            </a:pPr>
            <a:r>
              <a:t/>
            </a:r>
            <a:endParaRPr b="0" i="0" sz="1865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4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Agenda</a:t>
            </a:r>
            <a:endParaRPr b="1" i="0" sz="2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0" name="Google Shape;130;p34"/>
          <p:cNvGrpSpPr/>
          <p:nvPr/>
        </p:nvGrpSpPr>
        <p:grpSpPr>
          <a:xfrm>
            <a:off x="457200" y="952500"/>
            <a:ext cx="8001000" cy="381000"/>
            <a:chOff x="457200" y="952500"/>
            <a:chExt cx="8001000" cy="381000"/>
          </a:xfrm>
        </p:grpSpPr>
        <p:sp>
          <p:nvSpPr>
            <p:cNvPr id="131" name="Google Shape;131;p34"/>
            <p:cNvSpPr/>
            <p:nvPr/>
          </p:nvSpPr>
          <p:spPr>
            <a:xfrm>
              <a:off x="457200" y="952500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4"/>
            <p:cNvSpPr txBox="1"/>
            <p:nvPr/>
          </p:nvSpPr>
          <p:spPr>
            <a:xfrm>
              <a:off x="457200" y="95250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Section</a:t>
              </a:r>
              <a:endParaRPr b="1" i="0" sz="1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3" name="Google Shape;133;p34"/>
            <p:cNvSpPr txBox="1"/>
            <p:nvPr/>
          </p:nvSpPr>
          <p:spPr>
            <a:xfrm>
              <a:off x="6172200" y="9525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Slides</a:t>
              </a:r>
              <a:endParaRPr b="1" i="0" sz="1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34" name="Google Shape;134;p34"/>
          <p:cNvGrpSpPr/>
          <p:nvPr/>
        </p:nvGrpSpPr>
        <p:grpSpPr>
          <a:xfrm>
            <a:off x="457200" y="1428750"/>
            <a:ext cx="8001000" cy="4333950"/>
            <a:chOff x="457200" y="1428750"/>
            <a:chExt cx="8001000" cy="4333950"/>
          </a:xfrm>
        </p:grpSpPr>
        <p:grpSp>
          <p:nvGrpSpPr>
            <p:cNvPr id="135" name="Google Shape;135;p34"/>
            <p:cNvGrpSpPr/>
            <p:nvPr/>
          </p:nvGrpSpPr>
          <p:grpSpPr>
            <a:xfrm>
              <a:off x="457200" y="1428750"/>
              <a:ext cx="8001000" cy="619200"/>
              <a:chOff x="457200" y="1428750"/>
              <a:chExt cx="8001000" cy="619200"/>
            </a:xfrm>
          </p:grpSpPr>
          <p:sp>
            <p:nvSpPr>
              <p:cNvPr id="136" name="Google Shape;136;p34"/>
              <p:cNvSpPr/>
              <p:nvPr/>
            </p:nvSpPr>
            <p:spPr>
              <a:xfrm>
                <a:off x="457200" y="1428750"/>
                <a:ext cx="8001000" cy="61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34"/>
              <p:cNvSpPr txBox="1"/>
              <p:nvPr/>
            </p:nvSpPr>
            <p:spPr>
              <a:xfrm>
                <a:off x="647700" y="1428750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01 Problem Statement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Business background and analytics goals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38" name="Google Shape;138;p34"/>
              <p:cNvSpPr txBox="1"/>
              <p:nvPr/>
            </p:nvSpPr>
            <p:spPr>
              <a:xfrm>
                <a:off x="6172200" y="1428750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 4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39" name="Google Shape;139;p34"/>
            <p:cNvGrpSpPr/>
            <p:nvPr/>
          </p:nvGrpSpPr>
          <p:grpSpPr>
            <a:xfrm>
              <a:off x="457200" y="2047875"/>
              <a:ext cx="8001000" cy="619200"/>
              <a:chOff x="457200" y="2047875"/>
              <a:chExt cx="8001000" cy="619200"/>
            </a:xfrm>
          </p:grpSpPr>
          <p:sp>
            <p:nvSpPr>
              <p:cNvPr id="140" name="Google Shape;140;p34"/>
              <p:cNvSpPr/>
              <p:nvPr/>
            </p:nvSpPr>
            <p:spPr>
              <a:xfrm>
                <a:off x="457200" y="2047875"/>
                <a:ext cx="8001000" cy="619200"/>
              </a:xfrm>
              <a:prstGeom prst="rect">
                <a:avLst/>
              </a:prstGeom>
              <a:solidFill>
                <a:srgbClr val="F0F7F7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4"/>
              <p:cNvSpPr txBox="1"/>
              <p:nvPr/>
            </p:nvSpPr>
            <p:spPr>
              <a:xfrm>
                <a:off x="647700" y="2047875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02 Data Architecture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Data dictionary, ER diagram, tech stack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42" name="Google Shape;142;p34"/>
              <p:cNvSpPr txBox="1"/>
              <p:nvPr/>
            </p:nvSpPr>
            <p:spPr>
              <a:xfrm>
                <a:off x="6172200" y="2047875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Slides 5–8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43" name="Google Shape;143;p34"/>
            <p:cNvGrpSpPr/>
            <p:nvPr/>
          </p:nvGrpSpPr>
          <p:grpSpPr>
            <a:xfrm>
              <a:off x="457200" y="2667000"/>
              <a:ext cx="8001000" cy="619200"/>
              <a:chOff x="457200" y="2667000"/>
              <a:chExt cx="8001000" cy="619200"/>
            </a:xfrm>
          </p:grpSpPr>
          <p:sp>
            <p:nvSpPr>
              <p:cNvPr id="144" name="Google Shape;144;p34"/>
              <p:cNvSpPr/>
              <p:nvPr/>
            </p:nvSpPr>
            <p:spPr>
              <a:xfrm>
                <a:off x="457200" y="2667000"/>
                <a:ext cx="8001000" cy="61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4"/>
              <p:cNvSpPr txBox="1"/>
              <p:nvPr/>
            </p:nvSpPr>
            <p:spPr>
              <a:xfrm>
                <a:off x="647700" y="2667000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03 Data Quality Audit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Integrity checks, EDA, KPI framework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46" name="Google Shape;146;p34"/>
              <p:cNvSpPr txBox="1"/>
              <p:nvPr/>
            </p:nvSpPr>
            <p:spPr>
              <a:xfrm>
                <a:off x="6172200" y="2667000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Slides 9–11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47" name="Google Shape;147;p34"/>
            <p:cNvGrpSpPr/>
            <p:nvPr/>
          </p:nvGrpSpPr>
          <p:grpSpPr>
            <a:xfrm>
              <a:off x="457200" y="3286125"/>
              <a:ext cx="8001000" cy="619200"/>
              <a:chOff x="457200" y="3286125"/>
              <a:chExt cx="8001000" cy="619200"/>
            </a:xfrm>
          </p:grpSpPr>
          <p:sp>
            <p:nvSpPr>
              <p:cNvPr id="148" name="Google Shape;148;p34"/>
              <p:cNvSpPr/>
              <p:nvPr/>
            </p:nvSpPr>
            <p:spPr>
              <a:xfrm>
                <a:off x="457200" y="3286125"/>
                <a:ext cx="8001000" cy="619200"/>
              </a:xfrm>
              <a:prstGeom prst="rect">
                <a:avLst/>
              </a:prstGeom>
              <a:solidFill>
                <a:srgbClr val="F0F7F7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4"/>
              <p:cNvSpPr txBox="1"/>
              <p:nvPr/>
            </p:nvSpPr>
            <p:spPr>
              <a:xfrm>
                <a:off x="647700" y="3286125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04 Descriptive Analysis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Customer distribution, sales and revenue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0" name="Google Shape;150;p34"/>
              <p:cNvSpPr txBox="1"/>
              <p:nvPr/>
            </p:nvSpPr>
            <p:spPr>
              <a:xfrm>
                <a:off x="6172200" y="3286125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Slides 12–16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51" name="Google Shape;151;p34"/>
            <p:cNvGrpSpPr/>
            <p:nvPr/>
          </p:nvGrpSpPr>
          <p:grpSpPr>
            <a:xfrm>
              <a:off x="457200" y="3905250"/>
              <a:ext cx="8001000" cy="619200"/>
              <a:chOff x="457200" y="3905250"/>
              <a:chExt cx="8001000" cy="619200"/>
            </a:xfrm>
          </p:grpSpPr>
          <p:sp>
            <p:nvSpPr>
              <p:cNvPr id="152" name="Google Shape;152;p34"/>
              <p:cNvSpPr/>
              <p:nvPr/>
            </p:nvSpPr>
            <p:spPr>
              <a:xfrm>
                <a:off x="457200" y="3905250"/>
                <a:ext cx="8001000" cy="61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4"/>
              <p:cNvSpPr txBox="1"/>
              <p:nvPr/>
            </p:nvSpPr>
            <p:spPr>
              <a:xfrm>
                <a:off x="647700" y="3905250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05 Diagnostic Analysis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Targets, profitability, operational efficiency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4" name="Google Shape;154;p34"/>
              <p:cNvSpPr txBox="1"/>
              <p:nvPr/>
            </p:nvSpPr>
            <p:spPr>
              <a:xfrm>
                <a:off x="6172200" y="3905250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Slides 17–21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55" name="Google Shape;155;p34"/>
            <p:cNvGrpSpPr/>
            <p:nvPr/>
          </p:nvGrpSpPr>
          <p:grpSpPr>
            <a:xfrm>
              <a:off x="457200" y="4524375"/>
              <a:ext cx="8001000" cy="619200"/>
              <a:chOff x="457200" y="4524375"/>
              <a:chExt cx="8001000" cy="619200"/>
            </a:xfrm>
          </p:grpSpPr>
          <p:sp>
            <p:nvSpPr>
              <p:cNvPr id="156" name="Google Shape;156;p34"/>
              <p:cNvSpPr/>
              <p:nvPr/>
            </p:nvSpPr>
            <p:spPr>
              <a:xfrm>
                <a:off x="457200" y="4524375"/>
                <a:ext cx="8001000" cy="619200"/>
              </a:xfrm>
              <a:prstGeom prst="rect">
                <a:avLst/>
              </a:prstGeom>
              <a:solidFill>
                <a:srgbClr val="F0F7F7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4"/>
              <p:cNvSpPr txBox="1"/>
              <p:nvPr/>
            </p:nvSpPr>
            <p:spPr>
              <a:xfrm>
                <a:off x="647700" y="4524375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06 Predictive Modeling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Methodology, model results, feature importance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58" name="Google Shape;158;p34"/>
              <p:cNvSpPr txBox="1"/>
              <p:nvPr/>
            </p:nvSpPr>
            <p:spPr>
              <a:xfrm>
                <a:off x="6172200" y="4524375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Slides 22–24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159" name="Google Shape;159;p34"/>
            <p:cNvGrpSpPr/>
            <p:nvPr/>
          </p:nvGrpSpPr>
          <p:grpSpPr>
            <a:xfrm>
              <a:off x="457200" y="5143500"/>
              <a:ext cx="8001000" cy="619200"/>
              <a:chOff x="457200" y="5143500"/>
              <a:chExt cx="8001000" cy="619200"/>
            </a:xfrm>
          </p:grpSpPr>
          <p:sp>
            <p:nvSpPr>
              <p:cNvPr id="160" name="Google Shape;160;p34"/>
              <p:cNvSpPr/>
              <p:nvPr/>
            </p:nvSpPr>
            <p:spPr>
              <a:xfrm>
                <a:off x="457200" y="5143500"/>
                <a:ext cx="8001000" cy="619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EA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4"/>
              <p:cNvSpPr txBox="1"/>
              <p:nvPr/>
            </p:nvSpPr>
            <p:spPr>
              <a:xfrm>
                <a:off x="647700" y="5143500"/>
                <a:ext cx="5524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07 Strategic Recommendations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Actionable insights and next steps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62" name="Google Shape;162;p34"/>
              <p:cNvSpPr txBox="1"/>
              <p:nvPr/>
            </p:nvSpPr>
            <p:spPr>
              <a:xfrm>
                <a:off x="6172200" y="5143500"/>
                <a:ext cx="228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Slides 25–26</a:t>
                </a:r>
                <a:endParaRPr b="0" i="0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pic>
        <p:nvPicPr>
          <p:cNvPr descr="A clean, professional overhead shot of a modern workspace with a laptop, a notepad with data charts, and a coffee cup, minimalist corporate style with teal and white accents." id="163" name="Google Shape;163;p34"/>
          <p:cNvPicPr preferRelativeResize="0"/>
          <p:nvPr/>
        </p:nvPicPr>
        <p:blipFill rotWithShape="1">
          <a:blip r:embed="rId4">
            <a:alphaModFix/>
          </a:blip>
          <a:srcRect b="4179" l="0" r="0" t="4188"/>
          <a:stretch/>
        </p:blipFill>
        <p:spPr>
          <a:xfrm>
            <a:off x="8763000" y="952500"/>
            <a:ext cx="2952900" cy="4810200"/>
          </a:xfrm>
          <a:prstGeom prst="roundRect">
            <a:avLst>
              <a:gd fmla="val 387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5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5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5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79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Problem Statement</a:t>
            </a:r>
            <a:endParaRPr b="1" i="0" sz="32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76" name="Google Shape;176;p35"/>
          <p:cNvGrpSpPr/>
          <p:nvPr/>
        </p:nvGrpSpPr>
        <p:grpSpPr>
          <a:xfrm>
            <a:off x="571500" y="1524000"/>
            <a:ext cx="5334000" cy="1714500"/>
            <a:chOff x="0" y="0"/>
            <a:chExt cx="5334000" cy="1714500"/>
          </a:xfrm>
        </p:grpSpPr>
        <p:sp>
          <p:nvSpPr>
            <p:cNvPr id="177" name="Google Shape;177;p35"/>
            <p:cNvSpPr/>
            <p:nvPr/>
          </p:nvSpPr>
          <p:spPr>
            <a:xfrm>
              <a:off x="0" y="0"/>
              <a:ext cx="5334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5"/>
            <p:cNvSpPr txBox="1"/>
            <p:nvPr/>
          </p:nvSpPr>
          <p:spPr>
            <a:xfrm>
              <a:off x="238125" y="238125"/>
              <a:ext cx="485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The Sugar Wagon Inc.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IN" sz="14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 leading US-based candy manufacturer operating across three core divisions: Chocolate, Sugar, and Other. Our operations span multiple factories and full-cycle data tracking from production to delivery.</a:t>
              </a:r>
              <a:endParaRPr b="0" i="0" sz="14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pic>
        <p:nvPicPr>
          <p:cNvPr descr="A high-quality, professional 3D map of the United States with subtle markers indicating factory locations, styled in a clean corporate aesthetic with teal and white accents." id="179" name="Google Shape;179;p35"/>
          <p:cNvPicPr preferRelativeResize="0"/>
          <p:nvPr/>
        </p:nvPicPr>
        <p:blipFill rotWithShape="1">
          <a:blip r:embed="rId3">
            <a:alphaModFix/>
          </a:blip>
          <a:srcRect b="-13489" l="0" r="0" t="2378"/>
          <a:stretch/>
        </p:blipFill>
        <p:spPr>
          <a:xfrm>
            <a:off x="571500" y="3429000"/>
            <a:ext cx="5334000" cy="3333900"/>
          </a:xfrm>
          <a:prstGeom prst="roundRect">
            <a:avLst>
              <a:gd fmla="val 3428" name="adj"/>
            </a:avLst>
          </a:prstGeom>
          <a:noFill/>
          <a:ln>
            <a:noFill/>
          </a:ln>
        </p:spPr>
      </p:pic>
      <p:grpSp>
        <p:nvGrpSpPr>
          <p:cNvPr id="180" name="Google Shape;180;p35"/>
          <p:cNvGrpSpPr/>
          <p:nvPr/>
        </p:nvGrpSpPr>
        <p:grpSpPr>
          <a:xfrm>
            <a:off x="6286500" y="1524000"/>
            <a:ext cx="5334000" cy="4762500"/>
            <a:chOff x="0" y="0"/>
            <a:chExt cx="5334000" cy="4762500"/>
          </a:xfrm>
        </p:grpSpPr>
        <p:sp>
          <p:nvSpPr>
            <p:cNvPr id="181" name="Google Shape;181;p35"/>
            <p:cNvSpPr/>
            <p:nvPr/>
          </p:nvSpPr>
          <p:spPr>
            <a:xfrm>
              <a:off x="0" y="0"/>
              <a:ext cx="5334000" cy="4762500"/>
            </a:xfrm>
            <a:prstGeom prst="roundRect">
              <a:avLst>
                <a:gd fmla="val 24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5"/>
            <p:cNvSpPr txBox="1"/>
            <p:nvPr/>
          </p:nvSpPr>
          <p:spPr>
            <a:xfrm>
              <a:off x="285750" y="285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Distribution Analytics Goals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183" name="Google Shape;183;p35"/>
            <p:cNvGrpSpPr/>
            <p:nvPr/>
          </p:nvGrpSpPr>
          <p:grpSpPr>
            <a:xfrm>
              <a:off x="285750" y="857250"/>
              <a:ext cx="2190900" cy="1714500"/>
              <a:chOff x="0" y="0"/>
              <a:chExt cx="2190900" cy="1714500"/>
            </a:xfrm>
          </p:grpSpPr>
          <p:sp>
            <p:nvSpPr>
              <p:cNvPr id="184" name="Google Shape;184;p35"/>
              <p:cNvSpPr/>
              <p:nvPr/>
            </p:nvSpPr>
            <p:spPr>
              <a:xfrm>
                <a:off x="0" y="0"/>
                <a:ext cx="21909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35"/>
              <p:cNvSpPr txBox="1"/>
              <p:nvPr/>
            </p:nvSpPr>
            <p:spPr>
              <a:xfrm>
                <a:off x="142950" y="0"/>
                <a:ext cx="18096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Sales &amp; Revenue</a:t>
                </a:r>
                <a:endParaRPr b="1" i="0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Tracking financial growth and trend analysis.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186" name="Google Shape;186;p35"/>
            <p:cNvGrpSpPr/>
            <p:nvPr/>
          </p:nvGrpSpPr>
          <p:grpSpPr>
            <a:xfrm>
              <a:off x="2857500" y="857250"/>
              <a:ext cx="2190900" cy="1714500"/>
              <a:chOff x="0" y="0"/>
              <a:chExt cx="2190900" cy="1714500"/>
            </a:xfrm>
          </p:grpSpPr>
          <p:sp>
            <p:nvSpPr>
              <p:cNvPr id="187" name="Google Shape;187;p35"/>
              <p:cNvSpPr/>
              <p:nvPr/>
            </p:nvSpPr>
            <p:spPr>
              <a:xfrm>
                <a:off x="0" y="0"/>
                <a:ext cx="21909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5"/>
              <p:cNvSpPr txBox="1"/>
              <p:nvPr/>
            </p:nvSpPr>
            <p:spPr>
              <a:xfrm>
                <a:off x="190500" y="0"/>
                <a:ext cx="18096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Customer Dist.</a:t>
                </a:r>
                <a:endParaRPr b="1" i="0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Mapping purchasing patterns by region.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189" name="Google Shape;189;p35"/>
            <p:cNvGrpSpPr/>
            <p:nvPr/>
          </p:nvGrpSpPr>
          <p:grpSpPr>
            <a:xfrm>
              <a:off x="285750" y="2762250"/>
              <a:ext cx="2190900" cy="1714500"/>
              <a:chOff x="0" y="0"/>
              <a:chExt cx="2190900" cy="1714500"/>
            </a:xfrm>
          </p:grpSpPr>
          <p:sp>
            <p:nvSpPr>
              <p:cNvPr id="190" name="Google Shape;190;p35"/>
              <p:cNvSpPr/>
              <p:nvPr/>
            </p:nvSpPr>
            <p:spPr>
              <a:xfrm>
                <a:off x="0" y="0"/>
                <a:ext cx="21909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5"/>
              <p:cNvSpPr txBox="1"/>
              <p:nvPr/>
            </p:nvSpPr>
            <p:spPr>
              <a:xfrm>
                <a:off x="190500" y="190500"/>
                <a:ext cx="18096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Operational Eff.</a:t>
                </a:r>
                <a:endParaRPr b="1" i="0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Optimizing factory-to-delivery workflows.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192" name="Google Shape;192;p35"/>
            <p:cNvGrpSpPr/>
            <p:nvPr/>
          </p:nvGrpSpPr>
          <p:grpSpPr>
            <a:xfrm>
              <a:off x="2857500" y="2762250"/>
              <a:ext cx="2190900" cy="1714500"/>
              <a:chOff x="0" y="0"/>
              <a:chExt cx="2190900" cy="1714500"/>
            </a:xfrm>
          </p:grpSpPr>
          <p:sp>
            <p:nvSpPr>
              <p:cNvPr id="193" name="Google Shape;193;p35"/>
              <p:cNvSpPr/>
              <p:nvPr/>
            </p:nvSpPr>
            <p:spPr>
              <a:xfrm>
                <a:off x="0" y="0"/>
                <a:ext cx="21909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5"/>
              <p:cNvSpPr txBox="1"/>
              <p:nvPr/>
            </p:nvSpPr>
            <p:spPr>
              <a:xfrm>
                <a:off x="190500" y="0"/>
                <a:ext cx="18096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Profitability</a:t>
                </a:r>
                <a:endParaRPr b="1" i="0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Identifying high and low performing products.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571500" y="762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Business Context</a:t>
            </a:r>
            <a:endParaRPr b="1" i="0" sz="279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7" name="Google Shape;207;p36"/>
          <p:cNvGrpSpPr/>
          <p:nvPr/>
        </p:nvGrpSpPr>
        <p:grpSpPr>
          <a:xfrm>
            <a:off x="571500" y="1714500"/>
            <a:ext cx="11049000" cy="762000"/>
            <a:chOff x="571500" y="1714500"/>
            <a:chExt cx="11049000" cy="762000"/>
          </a:xfrm>
        </p:grpSpPr>
        <p:sp>
          <p:nvSpPr>
            <p:cNvPr id="208" name="Google Shape;208;p36"/>
            <p:cNvSpPr/>
            <p:nvPr/>
          </p:nvSpPr>
          <p:spPr>
            <a:xfrm>
              <a:off x="571500" y="1714500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6"/>
            <p:cNvSpPr txBox="1"/>
            <p:nvPr/>
          </p:nvSpPr>
          <p:spPr>
            <a:xfrm>
              <a:off x="809625" y="1898269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10" name="Google Shape;210;p36"/>
            <p:cNvSpPr txBox="1"/>
            <p:nvPr/>
          </p:nvSpPr>
          <p:spPr>
            <a:xfrm>
              <a:off x="1524000" y="1714500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IN" sz="15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Industry &amp; Company Context:</a:t>
              </a:r>
              <a:r>
                <a:rPr b="0" i="0" lang="en-IN" sz="1500" u="none" cap="none" strike="noStrike">
                  <a:solidFill>
                    <a:srgbClr val="26262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Sugar Wagon Inc. is a mid-market US candy manufacturer. Confectionery is highly seasonal, with Q4 accounting for a disproportionate share of annual demand.</a:t>
              </a:r>
              <a:endParaRPr b="0" i="0" sz="1500" u="none" cap="none" strike="noStrike">
                <a:solidFill>
                  <a:srgbClr val="26262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11" name="Google Shape;211;p36"/>
          <p:cNvGrpSpPr/>
          <p:nvPr/>
        </p:nvGrpSpPr>
        <p:grpSpPr>
          <a:xfrm>
            <a:off x="571500" y="2619375"/>
            <a:ext cx="11049000" cy="762000"/>
            <a:chOff x="571500" y="2619375"/>
            <a:chExt cx="11049000" cy="762000"/>
          </a:xfrm>
        </p:grpSpPr>
        <p:sp>
          <p:nvSpPr>
            <p:cNvPr id="212" name="Google Shape;212;p36"/>
            <p:cNvSpPr/>
            <p:nvPr/>
          </p:nvSpPr>
          <p:spPr>
            <a:xfrm>
              <a:off x="571500" y="2619375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6"/>
            <p:cNvSpPr txBox="1"/>
            <p:nvPr/>
          </p:nvSpPr>
          <p:spPr>
            <a:xfrm>
              <a:off x="809625" y="2803144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14" name="Google Shape;214;p36"/>
            <p:cNvSpPr txBox="1"/>
            <p:nvPr/>
          </p:nvSpPr>
          <p:spPr>
            <a:xfrm>
              <a:off x="1524000" y="2619375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IN" sz="15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Data Maturity &amp; Scope:</a:t>
              </a:r>
              <a:r>
                <a:rPr b="0" i="0" lang="en-IN" sz="1500" u="none" cap="none" strike="noStrike">
                  <a:solidFill>
                    <a:srgbClr val="26262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4-year transactional dataset (2021–2024) covering 4 tables, 10K+ rows, and 28 columns across sales, products, factories and targets.</a:t>
              </a:r>
              <a:endParaRPr b="0" i="0" sz="1500" u="none" cap="none" strike="noStrike">
                <a:solidFill>
                  <a:srgbClr val="26262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15" name="Google Shape;215;p36"/>
          <p:cNvGrpSpPr/>
          <p:nvPr/>
        </p:nvGrpSpPr>
        <p:grpSpPr>
          <a:xfrm>
            <a:off x="571500" y="3524250"/>
            <a:ext cx="11049000" cy="762000"/>
            <a:chOff x="571500" y="3524250"/>
            <a:chExt cx="11049000" cy="762000"/>
          </a:xfrm>
        </p:grpSpPr>
        <p:sp>
          <p:nvSpPr>
            <p:cNvPr id="216" name="Google Shape;216;p36"/>
            <p:cNvSpPr/>
            <p:nvPr/>
          </p:nvSpPr>
          <p:spPr>
            <a:xfrm>
              <a:off x="571500" y="3524250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6"/>
            <p:cNvSpPr txBox="1"/>
            <p:nvPr/>
          </p:nvSpPr>
          <p:spPr>
            <a:xfrm>
              <a:off x="809625" y="3708019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18" name="Google Shape;218;p36"/>
            <p:cNvSpPr txBox="1"/>
            <p:nvPr/>
          </p:nvSpPr>
          <p:spPr>
            <a:xfrm>
              <a:off x="1524000" y="3524250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IN" sz="15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Stakeholder Priorities:</a:t>
              </a:r>
              <a:r>
                <a:rPr b="0" i="0" lang="en-IN" sz="1500" u="none" cap="none" strike="noStrike">
                  <a:solidFill>
                    <a:srgbClr val="26262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 Operations teams need factory efficiency benchmarks. Finance needs margin analysis. Executive team needs growth trend visibility and market expansion guidance.</a:t>
              </a:r>
              <a:endParaRPr b="0" i="0" sz="1500" u="none" cap="none" strike="noStrike">
                <a:solidFill>
                  <a:srgbClr val="26262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19" name="Google Shape;219;p36"/>
          <p:cNvGrpSpPr/>
          <p:nvPr/>
        </p:nvGrpSpPr>
        <p:grpSpPr>
          <a:xfrm>
            <a:off x="571500" y="4429125"/>
            <a:ext cx="11049000" cy="762000"/>
            <a:chOff x="571500" y="4429125"/>
            <a:chExt cx="11049000" cy="762000"/>
          </a:xfrm>
        </p:grpSpPr>
        <p:sp>
          <p:nvSpPr>
            <p:cNvPr id="220" name="Google Shape;220;p36"/>
            <p:cNvSpPr/>
            <p:nvPr/>
          </p:nvSpPr>
          <p:spPr>
            <a:xfrm>
              <a:off x="571500" y="4429125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6"/>
            <p:cNvSpPr txBox="1"/>
            <p:nvPr/>
          </p:nvSpPr>
          <p:spPr>
            <a:xfrm>
              <a:off x="809625" y="4612894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22" name="Google Shape;222;p36"/>
            <p:cNvSpPr txBox="1"/>
            <p:nvPr/>
          </p:nvSpPr>
          <p:spPr>
            <a:xfrm>
              <a:off x="1524000" y="4429125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IN" sz="15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Key Business Challenges</a:t>
              </a:r>
              <a:r>
                <a:rPr b="0" i="0" lang="en-IN" sz="1500" u="none" cap="none" strike="noStrike">
                  <a:solidFill>
                    <a:srgbClr val="26262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: Low customer retention (55.7% one-time buyers), Gulf region underperformance, and unvalidated shipping data are the three primary operational gaps to address.</a:t>
              </a:r>
              <a:endParaRPr b="0" i="0" sz="1500" u="none" cap="none" strike="noStrike">
                <a:solidFill>
                  <a:srgbClr val="26262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23" name="Google Shape;223;p36"/>
          <p:cNvGrpSpPr/>
          <p:nvPr/>
        </p:nvGrpSpPr>
        <p:grpSpPr>
          <a:xfrm>
            <a:off x="571500" y="5334000"/>
            <a:ext cx="11049000" cy="762000"/>
            <a:chOff x="571500" y="5334000"/>
            <a:chExt cx="11049000" cy="762000"/>
          </a:xfrm>
        </p:grpSpPr>
        <p:sp>
          <p:nvSpPr>
            <p:cNvPr id="224" name="Google Shape;224;p36"/>
            <p:cNvSpPr/>
            <p:nvPr/>
          </p:nvSpPr>
          <p:spPr>
            <a:xfrm>
              <a:off x="571500" y="5334000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6"/>
            <p:cNvSpPr txBox="1"/>
            <p:nvPr/>
          </p:nvSpPr>
          <p:spPr>
            <a:xfrm>
              <a:off x="809625" y="5517769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26" name="Google Shape;226;p36"/>
            <p:cNvSpPr txBox="1"/>
            <p:nvPr/>
          </p:nvSpPr>
          <p:spPr>
            <a:xfrm>
              <a:off x="1524000" y="5334000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IN" sz="15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Why Predictive Analytics?</a:t>
              </a:r>
              <a:r>
                <a:rPr b="0" i="0" lang="en-IN" sz="1500" u="none" cap="none" strike="noStrike">
                  <a:solidFill>
                    <a:srgbClr val="26262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: Moving beyond “what happened” to “what will happen” enables proactive inventory, pricing, and expansion decisions.</a:t>
              </a:r>
              <a:endParaRPr b="0" i="0" sz="1500" u="none" cap="none" strike="noStrike">
                <a:solidFill>
                  <a:srgbClr val="26262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37"/>
          <p:cNvGrpSpPr/>
          <p:nvPr/>
        </p:nvGrpSpPr>
        <p:grpSpPr>
          <a:xfrm>
            <a:off x="571500" y="1714500"/>
            <a:ext cx="2857500" cy="4000500"/>
            <a:chOff x="571500" y="1714500"/>
            <a:chExt cx="2857500" cy="4000500"/>
          </a:xfrm>
        </p:grpSpPr>
        <p:sp>
          <p:nvSpPr>
            <p:cNvPr id="238" name="Google Shape;238;p37"/>
            <p:cNvSpPr/>
            <p:nvPr/>
          </p:nvSpPr>
          <p:spPr>
            <a:xfrm>
              <a:off x="571500" y="1714500"/>
              <a:ext cx="2857500" cy="4000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7"/>
            <p:cNvSpPr txBox="1"/>
            <p:nvPr/>
          </p:nvSpPr>
          <p:spPr>
            <a:xfrm>
              <a:off x="762000" y="200025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None/>
              </a:pPr>
              <a:r>
                <a:rPr b="1" i="0" lang="en-IN" sz="1295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Structure Overview</a:t>
              </a:r>
              <a:endParaRPr b="1" i="0" sz="1295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330"/>
                <a:buFont typeface="Arial"/>
                <a:buNone/>
              </a:pPr>
              <a:r>
                <a:rPr b="1" i="0" lang="en-IN" sz="333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4 Tables</a:t>
              </a:r>
              <a:endParaRPr b="1" i="0" sz="333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205"/>
                <a:buFont typeface="Arial"/>
                <a:buNone/>
              </a:pPr>
              <a:r>
                <a:rPr b="0" i="0" lang="en-IN" sz="1205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~28 Unique Columns and 10k+ rows</a:t>
              </a:r>
              <a:endParaRPr b="0" i="0" sz="1205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240" name="Google Shape;240;p37"/>
            <p:cNvSpPr/>
            <p:nvPr/>
          </p:nvSpPr>
          <p:spPr>
            <a:xfrm>
              <a:off x="762000" y="3619500"/>
              <a:ext cx="2476500" cy="9600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7"/>
            <p:cNvSpPr txBox="1"/>
            <p:nvPr/>
          </p:nvSpPr>
          <p:spPr>
            <a:xfrm>
              <a:off x="762000" y="3810000"/>
              <a:ext cx="2476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Key Performance Indicators: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21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Raleway"/>
                <a:buChar char="●"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Total Sales (Financial Growth)</a:t>
              </a:r>
              <a:endParaRPr b="0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21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Raleway"/>
                <a:buChar char="●"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Gross Profit (Margin Analysis)</a:t>
              </a:r>
              <a:endParaRPr b="0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21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Raleway"/>
                <a:buChar char="●"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Shipping Mode (Logistics)</a:t>
              </a:r>
              <a:endParaRPr b="0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21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Raleway"/>
                <a:buChar char="●"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Regional Perf. (Market Density)</a:t>
              </a:r>
              <a:endParaRPr b="0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42" name="Google Shape;242;p37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Data Dictionary and Structure</a:t>
            </a:r>
            <a:endParaRPr b="1" i="0" sz="32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43" name="Google Shape;243;p37"/>
          <p:cNvGrpSpPr/>
          <p:nvPr/>
        </p:nvGrpSpPr>
        <p:grpSpPr>
          <a:xfrm>
            <a:off x="3619500" y="1714500"/>
            <a:ext cx="8001150" cy="2667150"/>
            <a:chOff x="3619500" y="1714500"/>
            <a:chExt cx="8001150" cy="2667150"/>
          </a:xfrm>
        </p:grpSpPr>
        <p:grpSp>
          <p:nvGrpSpPr>
            <p:cNvPr id="244" name="Google Shape;244;p37"/>
            <p:cNvGrpSpPr/>
            <p:nvPr/>
          </p:nvGrpSpPr>
          <p:grpSpPr>
            <a:xfrm>
              <a:off x="3619500" y="1714500"/>
              <a:ext cx="3905400" cy="1238400"/>
              <a:chOff x="3619500" y="1714500"/>
              <a:chExt cx="3905400" cy="1238400"/>
            </a:xfrm>
          </p:grpSpPr>
          <p:sp>
            <p:nvSpPr>
              <p:cNvPr id="245" name="Google Shape;245;p37"/>
              <p:cNvSpPr/>
              <p:nvPr/>
            </p:nvSpPr>
            <p:spPr>
              <a:xfrm>
                <a:off x="3619500" y="1714500"/>
                <a:ext cx="39054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7"/>
              <p:cNvSpPr/>
              <p:nvPr/>
            </p:nvSpPr>
            <p:spPr>
              <a:xfrm>
                <a:off x="3619500" y="1714500"/>
                <a:ext cx="95400" cy="1238400"/>
              </a:xfrm>
              <a:prstGeom prst="roundRect">
                <a:avLst>
                  <a:gd fmla="val 40000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7"/>
              <p:cNvSpPr txBox="1"/>
              <p:nvPr/>
            </p:nvSpPr>
            <p:spPr>
              <a:xfrm>
                <a:off x="3857625" y="1857375"/>
                <a:ext cx="3524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26262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Sales</a:t>
                </a:r>
                <a:endParaRPr b="1" i="0" sz="14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Transactional order details, quantities, and dates.</a:t>
                </a:r>
                <a:endParaRPr b="0" i="0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248" name="Google Shape;248;p37"/>
            <p:cNvGrpSpPr/>
            <p:nvPr/>
          </p:nvGrpSpPr>
          <p:grpSpPr>
            <a:xfrm>
              <a:off x="7715250" y="1714500"/>
              <a:ext cx="3905400" cy="1238400"/>
              <a:chOff x="7715250" y="1714500"/>
              <a:chExt cx="3905400" cy="1238400"/>
            </a:xfrm>
          </p:grpSpPr>
          <p:sp>
            <p:nvSpPr>
              <p:cNvPr id="249" name="Google Shape;249;p37"/>
              <p:cNvSpPr/>
              <p:nvPr/>
            </p:nvSpPr>
            <p:spPr>
              <a:xfrm>
                <a:off x="7715250" y="1714500"/>
                <a:ext cx="39054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7"/>
              <p:cNvSpPr/>
              <p:nvPr/>
            </p:nvSpPr>
            <p:spPr>
              <a:xfrm>
                <a:off x="7715250" y="1714500"/>
                <a:ext cx="95400" cy="1238400"/>
              </a:xfrm>
              <a:prstGeom prst="roundRect">
                <a:avLst>
                  <a:gd fmla="val 40000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7"/>
              <p:cNvSpPr txBox="1"/>
              <p:nvPr/>
            </p:nvSpPr>
            <p:spPr>
              <a:xfrm>
                <a:off x="7953375" y="1857375"/>
                <a:ext cx="3524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26262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Products</a:t>
                </a:r>
                <a:endParaRPr b="1" i="0" sz="14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Master list of candy varieties, divisions, and pricing.</a:t>
                </a:r>
                <a:endParaRPr b="0" i="0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252" name="Google Shape;252;p37"/>
            <p:cNvGrpSpPr/>
            <p:nvPr/>
          </p:nvGrpSpPr>
          <p:grpSpPr>
            <a:xfrm>
              <a:off x="3619500" y="3143250"/>
              <a:ext cx="3905400" cy="1238400"/>
              <a:chOff x="3619500" y="3143250"/>
              <a:chExt cx="3905400" cy="1238400"/>
            </a:xfrm>
          </p:grpSpPr>
          <p:sp>
            <p:nvSpPr>
              <p:cNvPr id="253" name="Google Shape;253;p37"/>
              <p:cNvSpPr/>
              <p:nvPr/>
            </p:nvSpPr>
            <p:spPr>
              <a:xfrm>
                <a:off x="3619500" y="3143250"/>
                <a:ext cx="39054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7"/>
              <p:cNvSpPr/>
              <p:nvPr/>
            </p:nvSpPr>
            <p:spPr>
              <a:xfrm>
                <a:off x="3619500" y="3143250"/>
                <a:ext cx="95400" cy="1238400"/>
              </a:xfrm>
              <a:prstGeom prst="roundRect">
                <a:avLst>
                  <a:gd fmla="val 40000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7"/>
              <p:cNvSpPr txBox="1"/>
              <p:nvPr/>
            </p:nvSpPr>
            <p:spPr>
              <a:xfrm>
                <a:off x="3857625" y="3286125"/>
                <a:ext cx="3524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26262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Factories</a:t>
                </a:r>
                <a:endParaRPr b="1" i="0" sz="14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Operational site locations and production capacities.</a:t>
                </a:r>
                <a:endParaRPr b="0" i="0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256" name="Google Shape;256;p37"/>
            <p:cNvGrpSpPr/>
            <p:nvPr/>
          </p:nvGrpSpPr>
          <p:grpSpPr>
            <a:xfrm>
              <a:off x="7715250" y="3143250"/>
              <a:ext cx="3905400" cy="1238400"/>
              <a:chOff x="7715250" y="3143250"/>
              <a:chExt cx="3905400" cy="1238400"/>
            </a:xfrm>
          </p:grpSpPr>
          <p:sp>
            <p:nvSpPr>
              <p:cNvPr id="257" name="Google Shape;257;p37"/>
              <p:cNvSpPr/>
              <p:nvPr/>
            </p:nvSpPr>
            <p:spPr>
              <a:xfrm>
                <a:off x="7715250" y="3143250"/>
                <a:ext cx="39054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7"/>
              <p:cNvSpPr/>
              <p:nvPr/>
            </p:nvSpPr>
            <p:spPr>
              <a:xfrm>
                <a:off x="7715250" y="3143250"/>
                <a:ext cx="95400" cy="1238400"/>
              </a:xfrm>
              <a:prstGeom prst="roundRect">
                <a:avLst>
                  <a:gd fmla="val 40000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7"/>
              <p:cNvSpPr txBox="1"/>
              <p:nvPr/>
            </p:nvSpPr>
            <p:spPr>
              <a:xfrm>
                <a:off x="7953375" y="3286125"/>
                <a:ext cx="3524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26262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Targets</a:t>
                </a:r>
                <a:endParaRPr b="1" i="0" sz="14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IN" sz="12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Strategic benchmarks for financial and volume goals.</a:t>
                </a:r>
                <a:endParaRPr b="0" i="0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</p:grpSp>
      <p:grpSp>
        <p:nvGrpSpPr>
          <p:cNvPr id="260" name="Google Shape;260;p37"/>
          <p:cNvGrpSpPr/>
          <p:nvPr/>
        </p:nvGrpSpPr>
        <p:grpSpPr>
          <a:xfrm>
            <a:off x="0" y="5905500"/>
            <a:ext cx="12192000" cy="952500"/>
            <a:chOff x="0" y="5905500"/>
            <a:chExt cx="12192000" cy="952500"/>
          </a:xfrm>
        </p:grpSpPr>
        <p:sp>
          <p:nvSpPr>
            <p:cNvPr id="261" name="Google Shape;261;p37"/>
            <p:cNvSpPr/>
            <p:nvPr/>
          </p:nvSpPr>
          <p:spPr>
            <a:xfrm>
              <a:off x="0" y="5905500"/>
              <a:ext cx="12192000" cy="952500"/>
            </a:xfrm>
            <a:prstGeom prst="rect">
              <a:avLst/>
            </a:prstGeom>
            <a:solidFill>
              <a:srgbClr val="348E90">
                <a:alpha val="5098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7"/>
            <p:cNvSpPr txBox="1"/>
            <p:nvPr/>
          </p:nvSpPr>
          <p:spPr>
            <a:xfrm>
              <a:off x="571500" y="6096000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1" lang="en-IN" sz="1000" u="none" cap="none" strike="noStrike">
                  <a:solidFill>
                    <a:srgbClr val="348E90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Note: This data dictionary outlines the core schema for the Sugar Wagon Inc. analytical platform.</a:t>
              </a:r>
              <a:endParaRPr b="0" i="1" sz="10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8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ER Diagram — Candy Sales Dataset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74" name="Google Shape;274;p38"/>
          <p:cNvGrpSpPr/>
          <p:nvPr/>
        </p:nvGrpSpPr>
        <p:grpSpPr>
          <a:xfrm>
            <a:off x="1428750" y="1714500"/>
            <a:ext cx="2095500" cy="1428900"/>
            <a:chOff x="1428750" y="1714500"/>
            <a:chExt cx="2095500" cy="1428900"/>
          </a:xfrm>
        </p:grpSpPr>
        <p:sp>
          <p:nvSpPr>
            <p:cNvPr id="275" name="Google Shape;275;p38"/>
            <p:cNvSpPr/>
            <p:nvPr/>
          </p:nvSpPr>
          <p:spPr>
            <a:xfrm>
              <a:off x="1428750" y="1714500"/>
              <a:ext cx="2095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8"/>
            <p:cNvSpPr/>
            <p:nvPr/>
          </p:nvSpPr>
          <p:spPr>
            <a:xfrm>
              <a:off x="1428750" y="1714500"/>
              <a:ext cx="2095500" cy="285900"/>
            </a:xfrm>
            <a:prstGeom prst="roundRect">
              <a:avLst>
                <a:gd fmla="val 26666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8"/>
            <p:cNvSpPr/>
            <p:nvPr/>
          </p:nvSpPr>
          <p:spPr>
            <a:xfrm>
              <a:off x="1428750" y="1905000"/>
              <a:ext cx="2095500" cy="954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8"/>
            <p:cNvSpPr txBox="1"/>
            <p:nvPr/>
          </p:nvSpPr>
          <p:spPr>
            <a:xfrm>
              <a:off x="1428750" y="171450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CANDY_PRODUCTS</a:t>
              </a:r>
              <a:endParaRPr b="1" i="0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79" name="Google Shape;279;p38"/>
            <p:cNvSpPr txBox="1"/>
            <p:nvPr/>
          </p:nvSpPr>
          <p:spPr>
            <a:xfrm>
              <a:off x="1524000" y="2047875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111111"/>
                  </a:solidFill>
                  <a:latin typeface="Raleway"/>
                  <a:ea typeface="Raleway"/>
                  <a:cs typeface="Raleway"/>
                  <a:sym typeface="Raleway"/>
                </a:rPr>
                <a:t>PK: Product ID</a:t>
              </a:r>
              <a:endParaRPr b="1" i="0" sz="1000" u="none" cap="none" strike="noStrike">
                <a:solidFill>
                  <a:srgbClr val="11111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111111"/>
                  </a:solidFill>
                  <a:latin typeface="Raleway"/>
                  <a:ea typeface="Raleway"/>
                  <a:cs typeface="Raleway"/>
                  <a:sym typeface="Raleway"/>
                </a:rPr>
                <a:t>FK: Division, Factory</a:t>
              </a:r>
              <a:endParaRPr b="1" i="0" sz="1000" u="none" cap="none" strike="noStrike">
                <a:solidFill>
                  <a:srgbClr val="11111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Product Name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Unit Price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Unit Cost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80" name="Google Shape;280;p38"/>
          <p:cNvGrpSpPr/>
          <p:nvPr/>
        </p:nvGrpSpPr>
        <p:grpSpPr>
          <a:xfrm>
            <a:off x="8667750" y="1714500"/>
            <a:ext cx="2095500" cy="1143000"/>
            <a:chOff x="8667750" y="1714500"/>
            <a:chExt cx="2095500" cy="1143000"/>
          </a:xfrm>
        </p:grpSpPr>
        <p:sp>
          <p:nvSpPr>
            <p:cNvPr id="281" name="Google Shape;281;p38"/>
            <p:cNvSpPr/>
            <p:nvPr/>
          </p:nvSpPr>
          <p:spPr>
            <a:xfrm>
              <a:off x="8667750" y="1714500"/>
              <a:ext cx="2095500" cy="1143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8667750" y="1714500"/>
              <a:ext cx="2095500" cy="285900"/>
            </a:xfrm>
            <a:prstGeom prst="roundRect">
              <a:avLst>
                <a:gd fmla="val 26666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8"/>
            <p:cNvSpPr/>
            <p:nvPr/>
          </p:nvSpPr>
          <p:spPr>
            <a:xfrm>
              <a:off x="8667750" y="1905000"/>
              <a:ext cx="2095500" cy="954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8"/>
            <p:cNvSpPr txBox="1"/>
            <p:nvPr/>
          </p:nvSpPr>
          <p:spPr>
            <a:xfrm>
              <a:off x="8667750" y="171450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CANDY_FACTORIES</a:t>
              </a:r>
              <a:endParaRPr b="1" i="0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5" name="Google Shape;285;p38"/>
            <p:cNvSpPr txBox="1"/>
            <p:nvPr/>
          </p:nvSpPr>
          <p:spPr>
            <a:xfrm>
              <a:off x="8763000" y="204787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111111"/>
                  </a:solidFill>
                  <a:latin typeface="Raleway"/>
                  <a:ea typeface="Raleway"/>
                  <a:cs typeface="Raleway"/>
                  <a:sym typeface="Raleway"/>
                </a:rPr>
                <a:t>PK: Factory</a:t>
              </a:r>
              <a:endParaRPr b="1" i="0" sz="1000" u="none" cap="none" strike="noStrike">
                <a:solidFill>
                  <a:srgbClr val="11111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Latitude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Longitude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1428750" y="4572000"/>
            <a:ext cx="2095500" cy="952500"/>
            <a:chOff x="1428750" y="4572000"/>
            <a:chExt cx="2095500" cy="952500"/>
          </a:xfrm>
        </p:grpSpPr>
        <p:sp>
          <p:nvSpPr>
            <p:cNvPr id="287" name="Google Shape;287;p38"/>
            <p:cNvSpPr/>
            <p:nvPr/>
          </p:nvSpPr>
          <p:spPr>
            <a:xfrm>
              <a:off x="1428750" y="4572000"/>
              <a:ext cx="20955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1428750" y="4572000"/>
              <a:ext cx="2095500" cy="285900"/>
            </a:xfrm>
            <a:prstGeom prst="roundRect">
              <a:avLst>
                <a:gd fmla="val 26666" name="adj"/>
              </a:avLst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8"/>
            <p:cNvSpPr/>
            <p:nvPr/>
          </p:nvSpPr>
          <p:spPr>
            <a:xfrm>
              <a:off x="1428750" y="4762500"/>
              <a:ext cx="2095500" cy="954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8"/>
            <p:cNvSpPr txBox="1"/>
            <p:nvPr/>
          </p:nvSpPr>
          <p:spPr>
            <a:xfrm>
              <a:off x="1428750" y="457200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CANDY_TARGETS</a:t>
              </a:r>
              <a:endParaRPr b="1" i="0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91" name="Google Shape;291;p38"/>
            <p:cNvSpPr txBox="1"/>
            <p:nvPr/>
          </p:nvSpPr>
          <p:spPr>
            <a:xfrm>
              <a:off x="1524000" y="49053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111111"/>
                  </a:solidFill>
                  <a:latin typeface="Raleway"/>
                  <a:ea typeface="Raleway"/>
                  <a:cs typeface="Raleway"/>
                  <a:sym typeface="Raleway"/>
                </a:rPr>
                <a:t>PK: Division</a:t>
              </a:r>
              <a:endParaRPr b="1" i="0" sz="1000" u="none" cap="none" strike="noStrike">
                <a:solidFill>
                  <a:srgbClr val="11111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Target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92" name="Google Shape;292;p38"/>
          <p:cNvGrpSpPr/>
          <p:nvPr/>
        </p:nvGrpSpPr>
        <p:grpSpPr>
          <a:xfrm>
            <a:off x="4572000" y="2381250"/>
            <a:ext cx="3048000" cy="4000500"/>
            <a:chOff x="4572000" y="2381250"/>
            <a:chExt cx="3048000" cy="4000500"/>
          </a:xfrm>
        </p:grpSpPr>
        <p:sp>
          <p:nvSpPr>
            <p:cNvPr id="293" name="Google Shape;293;p38"/>
            <p:cNvSpPr/>
            <p:nvPr/>
          </p:nvSpPr>
          <p:spPr>
            <a:xfrm>
              <a:off x="4572000" y="2381250"/>
              <a:ext cx="3048000" cy="40005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8"/>
            <p:cNvSpPr/>
            <p:nvPr/>
          </p:nvSpPr>
          <p:spPr>
            <a:xfrm>
              <a:off x="4572000" y="2381250"/>
              <a:ext cx="3048000" cy="285900"/>
            </a:xfrm>
            <a:prstGeom prst="roundRect">
              <a:avLst>
                <a:gd fmla="val 26666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8"/>
            <p:cNvSpPr/>
            <p:nvPr/>
          </p:nvSpPr>
          <p:spPr>
            <a:xfrm>
              <a:off x="4572000" y="2571750"/>
              <a:ext cx="3048000" cy="954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8"/>
            <p:cNvSpPr txBox="1"/>
            <p:nvPr/>
          </p:nvSpPr>
          <p:spPr>
            <a:xfrm>
              <a:off x="4572000" y="238125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CANDY_SALES</a:t>
              </a:r>
              <a:endParaRPr b="1" i="0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97" name="Google Shape;297;p38"/>
            <p:cNvSpPr txBox="1"/>
            <p:nvPr/>
          </p:nvSpPr>
          <p:spPr>
            <a:xfrm>
              <a:off x="4667250" y="2714625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111111"/>
                  </a:solidFill>
                  <a:latin typeface="Raleway"/>
                  <a:ea typeface="Raleway"/>
                  <a:cs typeface="Raleway"/>
                  <a:sym typeface="Raleway"/>
                </a:rPr>
                <a:t>PK: Row ID</a:t>
              </a:r>
              <a:endParaRPr b="1" i="0" sz="1000" u="none" cap="none" strike="noStrike">
                <a:solidFill>
                  <a:srgbClr val="11111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111111"/>
                  </a:solidFill>
                  <a:latin typeface="Raleway"/>
                  <a:ea typeface="Raleway"/>
                  <a:cs typeface="Raleway"/>
                  <a:sym typeface="Raleway"/>
                </a:rPr>
                <a:t>FK: Product ID, Division</a:t>
              </a:r>
              <a:endParaRPr b="1" i="0" sz="1000" u="none" cap="none" strike="noStrike">
                <a:solidFill>
                  <a:srgbClr val="11111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Order ID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Order Date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Ship Date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Ship Mode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Customer ID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Country/Region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City, State/Province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Postal Code, Region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Product Name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Sales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Units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Gross Profit, Cost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pic>
        <p:nvPicPr>
          <p:cNvPr id="298" name="Google Shape;2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250" y="2419350"/>
            <a:ext cx="10287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0075" y="2324100"/>
            <a:ext cx="166800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0" y="1990725"/>
            <a:ext cx="5143500" cy="4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19488" y="2324100"/>
            <a:ext cx="166800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66975" y="3895725"/>
            <a:ext cx="2105100" cy="6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0075" y="3800475"/>
            <a:ext cx="166800" cy="20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38"/>
          <p:cNvGrpSpPr/>
          <p:nvPr/>
        </p:nvGrpSpPr>
        <p:grpSpPr>
          <a:xfrm>
            <a:off x="643975" y="6029100"/>
            <a:ext cx="11049000" cy="381000"/>
            <a:chOff x="571500" y="5524500"/>
            <a:chExt cx="11049000" cy="381000"/>
          </a:xfrm>
        </p:grpSpPr>
        <p:sp>
          <p:nvSpPr>
            <p:cNvPr id="305" name="Google Shape;305;p38"/>
            <p:cNvSpPr/>
            <p:nvPr/>
          </p:nvSpPr>
          <p:spPr>
            <a:xfrm>
              <a:off x="571500" y="5524500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8"/>
            <p:cNvSpPr txBox="1"/>
            <p:nvPr/>
          </p:nvSpPr>
          <p:spPr>
            <a:xfrm>
              <a:off x="762000" y="5524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PK = Primary Key, FK = Foreign Key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07" name="Google Shape;307;p38"/>
            <p:cNvSpPr txBox="1"/>
            <p:nvPr/>
          </p:nvSpPr>
          <p:spPr>
            <a:xfrm>
              <a:off x="3619500" y="55245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Schema Type: Snowflake Schema · 4 Tables · 3 Relationships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Executive Summary</a:t>
            </a:r>
            <a:endParaRPr b="1" i="0" sz="2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3" name="Google Shape;313;p39"/>
          <p:cNvSpPr/>
          <p:nvPr/>
        </p:nvSpPr>
        <p:spPr>
          <a:xfrm>
            <a:off x="457200" y="857250"/>
            <a:ext cx="2667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$138,284</a:t>
            </a:r>
            <a:endParaRPr b="1" i="0" sz="26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Total Revenue</a:t>
            </a:r>
            <a:endParaRPr b="0" i="0" sz="1100" u="none" cap="none" strike="noStrike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3333750" y="857250"/>
            <a:ext cx="2667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$91K</a:t>
            </a:r>
            <a:endParaRPr b="1" i="0" sz="26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Gross Profit (66% margin)</a:t>
            </a:r>
            <a:endParaRPr b="0" i="0" sz="1100" u="none" cap="none" strike="noStrike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6210300" y="857250"/>
            <a:ext cx="2667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~27%</a:t>
            </a:r>
            <a:endParaRPr b="1" i="0" sz="26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YoY Growth (2023–24)</a:t>
            </a:r>
            <a:endParaRPr b="0" i="0" sz="1100" u="none" cap="none" strike="noStrike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9067800" y="857250"/>
            <a:ext cx="2667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3.15x</a:t>
            </a:r>
            <a:endParaRPr b="1" i="0" sz="26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Target Achievement</a:t>
            </a:r>
            <a:endParaRPr b="0" i="0" sz="1100" u="none" cap="none" strike="noStrike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457200" y="2047875"/>
            <a:ext cx="5486400" cy="3810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Findings</a:t>
            </a:r>
            <a:endParaRPr b="1" i="0" sz="16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457200" y="2428875"/>
            <a:ext cx="5486400" cy="369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38125" lIns="238125" spcFirstLastPara="1" rIns="238125" wrap="square" tIns="238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Chocolate dominates at 96% of revenue</a:t>
            </a:r>
            <a:endParaRPr b="1" i="0" sz="12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Any supply disruption carries outsized risk. Diversification recommended.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Q4 is peak sales window every year</a:t>
            </a:r>
            <a:endParaRPr b="1" i="0" sz="12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Holiday demand confirmed. Q3 inventory build-up is critical.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Pacific leads; Gulf is untapped growth market</a:t>
            </a:r>
            <a:endParaRPr b="1" i="0" sz="12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Gulf revenue share: 15.6%. Targeted promotions recommended.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55.7% of customers are one-time buyers</a:t>
            </a:r>
            <a:endParaRPr b="1" i="0" sz="12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Loyalty programme critical to improving retention and LTV.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Ship date anomaly flags data quality issue</a:t>
            </a:r>
            <a:endParaRPr b="1" i="0" sz="12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Dates recorded 5–6 years post-order. Source system fix required.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6248400" y="2047875"/>
            <a:ext cx="5486400" cy="381000"/>
          </a:xfrm>
          <a:prstGeom prst="rect">
            <a:avLst/>
          </a:prstGeom>
          <a:solidFill>
            <a:srgbClr val="2A7274"/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Top Recommendations</a:t>
            </a:r>
            <a:endParaRPr b="1" i="0" sz="16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6248400" y="2428875"/>
            <a:ext cx="5486400" cy="369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38125" lIns="238125" spcFirstLastPara="1" rIns="238125" wrap="square" tIns="238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"/>
                <a:ea typeface="Raleway"/>
                <a:cs typeface="Raleway"/>
                <a:sym typeface="Raleway"/>
              </a:rPr>
              <a:t>1. Scale Q3 Inventory</a:t>
            </a:r>
            <a:endParaRPr b="1" i="0" sz="1200" u="none" cap="none" strike="noStrike">
              <a:solidFill>
                <a:srgbClr val="2A727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Begin procurement ramp-up by August to meet Q4 surge.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"/>
                <a:ea typeface="Raleway"/>
                <a:cs typeface="Raleway"/>
                <a:sym typeface="Raleway"/>
              </a:rPr>
              <a:t>2. Expand Gulf Region</a:t>
            </a:r>
            <a:endParaRPr b="1" i="0" sz="1200" u="none" cap="none" strike="noStrike">
              <a:solidFill>
                <a:srgbClr val="2A727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Prioritise distribution partnerships and targeted promotions.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"/>
                <a:ea typeface="Raleway"/>
                <a:cs typeface="Raleway"/>
                <a:sym typeface="Raleway"/>
              </a:rPr>
              <a:t>3. Launch Wholesale Loyalty Programme</a:t>
            </a:r>
            <a:endParaRPr b="1" i="0" sz="1200" u="none" cap="none" strike="noStrike">
              <a:solidFill>
                <a:srgbClr val="2A727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Target the 15 repeat buyers and occasional buyers segment.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"/>
                <a:ea typeface="Raleway"/>
                <a:cs typeface="Raleway"/>
                <a:sym typeface="Raleway"/>
              </a:rPr>
              <a:t>4. Fix Ship Date Source System Error</a:t>
            </a:r>
            <a:endParaRPr b="1" i="0" sz="1200" u="none" cap="none" strike="noStrike">
              <a:solidFill>
                <a:srgbClr val="2A727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Unlock accurate logistics KPIs once data integrity is restored.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"/>
                <a:ea typeface="Raleway"/>
                <a:cs typeface="Raleway"/>
                <a:sym typeface="Raleway"/>
              </a:rPr>
              <a:t>5. Volume-Based Sales Incentives</a:t>
            </a:r>
            <a:endParaRPr b="1" i="0" sz="1200" u="none" cap="none" strike="noStrike">
              <a:solidFill>
                <a:srgbClr val="2A727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Units (r=0.73) is strongest revenue driver. Structure targets around volume.</a:t>
            </a:r>
            <a:endParaRPr b="0" i="0" sz="1100" u="none" cap="none" strike="noStrike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Proposed Tech Stack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32" name="Google Shape;332;p40"/>
          <p:cNvGrpSpPr/>
          <p:nvPr/>
        </p:nvGrpSpPr>
        <p:grpSpPr>
          <a:xfrm>
            <a:off x="571500" y="1714500"/>
            <a:ext cx="11049000" cy="4381500"/>
            <a:chOff x="571500" y="1714500"/>
            <a:chExt cx="11049000" cy="4381500"/>
          </a:xfrm>
        </p:grpSpPr>
        <p:sp>
          <p:nvSpPr>
            <p:cNvPr id="333" name="Google Shape;333;p40"/>
            <p:cNvSpPr/>
            <p:nvPr/>
          </p:nvSpPr>
          <p:spPr>
            <a:xfrm>
              <a:off x="571500" y="1714500"/>
              <a:ext cx="80010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0"/>
            <p:cNvSpPr/>
            <p:nvPr/>
          </p:nvSpPr>
          <p:spPr>
            <a:xfrm>
              <a:off x="8953500" y="1714500"/>
              <a:ext cx="2667000" cy="4381500"/>
            </a:xfrm>
            <a:prstGeom prst="roundRect">
              <a:avLst>
                <a:gd fmla="val 4285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40"/>
          <p:cNvGrpSpPr/>
          <p:nvPr/>
        </p:nvGrpSpPr>
        <p:grpSpPr>
          <a:xfrm>
            <a:off x="904875" y="2571750"/>
            <a:ext cx="2190900" cy="2667000"/>
            <a:chOff x="904875" y="2571750"/>
            <a:chExt cx="2190900" cy="2667000"/>
          </a:xfrm>
        </p:grpSpPr>
        <p:sp>
          <p:nvSpPr>
            <p:cNvPr id="336" name="Google Shape;336;p40"/>
            <p:cNvSpPr/>
            <p:nvPr/>
          </p:nvSpPr>
          <p:spPr>
            <a:xfrm>
              <a:off x="904875" y="2571750"/>
              <a:ext cx="2190900" cy="2667000"/>
            </a:xfrm>
            <a:prstGeom prst="roundRect">
              <a:avLst>
                <a:gd fmla="val 5217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0"/>
            <p:cNvSpPr txBox="1"/>
            <p:nvPr/>
          </p:nvSpPr>
          <p:spPr>
            <a:xfrm>
              <a:off x="904875" y="25717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Database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IN" sz="20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rPr>
                <a:t>Snowflake</a:t>
              </a:r>
              <a:endParaRPr b="1" i="0" sz="20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Data management and querying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338" name="Google Shape;338;p40"/>
          <p:cNvGrpSpPr/>
          <p:nvPr/>
        </p:nvGrpSpPr>
        <p:grpSpPr>
          <a:xfrm>
            <a:off x="3476625" y="2571750"/>
            <a:ext cx="2190900" cy="2667000"/>
            <a:chOff x="3476625" y="2571750"/>
            <a:chExt cx="2190900" cy="2667000"/>
          </a:xfrm>
        </p:grpSpPr>
        <p:sp>
          <p:nvSpPr>
            <p:cNvPr id="339" name="Google Shape;339;p40"/>
            <p:cNvSpPr/>
            <p:nvPr/>
          </p:nvSpPr>
          <p:spPr>
            <a:xfrm>
              <a:off x="3476625" y="2571750"/>
              <a:ext cx="2190900" cy="2667000"/>
            </a:xfrm>
            <a:prstGeom prst="roundRect">
              <a:avLst>
                <a:gd fmla="val 5217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0"/>
            <p:cNvSpPr txBox="1"/>
            <p:nvPr/>
          </p:nvSpPr>
          <p:spPr>
            <a:xfrm>
              <a:off x="3476625" y="25717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      Data Processing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IN" sz="20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rPr>
                <a:t>DataBricks</a:t>
              </a:r>
              <a:endParaRPr b="1" i="0" sz="20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Pandas/NumPy for Sales regression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341" name="Google Shape;341;p40"/>
          <p:cNvGrpSpPr/>
          <p:nvPr/>
        </p:nvGrpSpPr>
        <p:grpSpPr>
          <a:xfrm>
            <a:off x="6048375" y="2585993"/>
            <a:ext cx="2190900" cy="2667000"/>
            <a:chOff x="6048375" y="2571750"/>
            <a:chExt cx="2190900" cy="2667000"/>
          </a:xfrm>
        </p:grpSpPr>
        <p:sp>
          <p:nvSpPr>
            <p:cNvPr id="342" name="Google Shape;342;p40"/>
            <p:cNvSpPr/>
            <p:nvPr/>
          </p:nvSpPr>
          <p:spPr>
            <a:xfrm>
              <a:off x="6048375" y="2571750"/>
              <a:ext cx="2190900" cy="2667000"/>
            </a:xfrm>
            <a:prstGeom prst="roundRect">
              <a:avLst>
                <a:gd fmla="val 5217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0"/>
            <p:cNvSpPr txBox="1"/>
            <p:nvPr/>
          </p:nvSpPr>
          <p:spPr>
            <a:xfrm>
              <a:off x="6048375" y="25717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IN" sz="40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rPr>
                <a:t>  </a:t>
              </a: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Visualization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IN" sz="20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rPr>
                <a:t>Power BI / Excel</a:t>
              </a:r>
              <a:endParaRPr b="1" i="0" sz="20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Customer Distribution Dashboard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344" name="Google Shape;344;p40"/>
          <p:cNvGrpSpPr/>
          <p:nvPr/>
        </p:nvGrpSpPr>
        <p:grpSpPr>
          <a:xfrm>
            <a:off x="3095625" y="3848100"/>
            <a:ext cx="395250" cy="114300"/>
            <a:chOff x="3095625" y="3848100"/>
            <a:chExt cx="395250" cy="114300"/>
          </a:xfrm>
        </p:grpSpPr>
        <p:pic>
          <p:nvPicPr>
            <p:cNvPr id="345" name="Google Shape;34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5625" y="3895725"/>
              <a:ext cx="3333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19475" y="3848100"/>
              <a:ext cx="714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7" name="Google Shape;347;p40"/>
          <p:cNvGrpSpPr/>
          <p:nvPr/>
        </p:nvGrpSpPr>
        <p:grpSpPr>
          <a:xfrm>
            <a:off x="5667375" y="3848100"/>
            <a:ext cx="395250" cy="114300"/>
            <a:chOff x="5667375" y="3848100"/>
            <a:chExt cx="395250" cy="114300"/>
          </a:xfrm>
        </p:grpSpPr>
        <p:pic>
          <p:nvPicPr>
            <p:cNvPr id="348" name="Google Shape;348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7375" y="3895725"/>
              <a:ext cx="3333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91225" y="3848100"/>
              <a:ext cx="714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0" name="Google Shape;350;p40"/>
          <p:cNvSpPr txBox="1"/>
          <p:nvPr/>
        </p:nvSpPr>
        <p:spPr>
          <a:xfrm>
            <a:off x="8953500" y="1714500"/>
            <a:ext cx="26670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0" lIns="285750" spcFirstLastPara="1" rIns="285750" wrap="square" tIns="28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FFFFFF"/>
                </a:solidFill>
                <a:latin typeface="Mate"/>
                <a:ea typeface="Mate"/>
                <a:cs typeface="Mate"/>
                <a:sym typeface="Mate"/>
              </a:rPr>
              <a:t>  </a:t>
            </a:r>
            <a:r>
              <a:rPr b="1" i="0" lang="en-IN" sz="1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Problem Type</a:t>
            </a:r>
            <a:endParaRPr b="1" i="0" sz="18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Regression</a:t>
            </a:r>
            <a:endParaRPr b="1" i="0" sz="28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Predicting Target Variable:</a:t>
            </a:r>
            <a:endParaRPr b="0" i="0" sz="1200" u="none" cap="none" strike="noStrike">
              <a:solidFill>
                <a:srgbClr val="FFFFFF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'Sales'</a:t>
            </a:r>
            <a:endParaRPr b="1" i="0" sz="16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1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Data Integrity &amp; Consistency Audit Results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3" name="Google Shape;363;p41"/>
          <p:cNvSpPr/>
          <p:nvPr/>
        </p:nvSpPr>
        <p:spPr>
          <a:xfrm>
            <a:off x="571500" y="1714500"/>
            <a:ext cx="11049000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1"/>
          <p:cNvSpPr/>
          <p:nvPr/>
        </p:nvSpPr>
        <p:spPr>
          <a:xfrm>
            <a:off x="571500" y="1714500"/>
            <a:ext cx="11049000" cy="476400"/>
          </a:xfrm>
          <a:prstGeom prst="roundRect">
            <a:avLst>
              <a:gd fmla="val 24000" name="adj"/>
            </a:avLst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1"/>
          <p:cNvSpPr/>
          <p:nvPr/>
        </p:nvSpPr>
        <p:spPr>
          <a:xfrm>
            <a:off x="571500" y="2047875"/>
            <a:ext cx="11049000" cy="142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809625" y="1714500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Audit Section</a:t>
            </a:r>
            <a:endParaRPr b="1" i="0" sz="1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3333750" y="1714500"/>
            <a:ext cx="619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Validation Details</a:t>
            </a:r>
            <a:endParaRPr b="1" i="0" sz="1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8" name="Google Shape;368;p41"/>
          <p:cNvSpPr txBox="1"/>
          <p:nvPr/>
        </p:nvSpPr>
        <p:spPr>
          <a:xfrm>
            <a:off x="9715500" y="1714500"/>
            <a:ext cx="171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  <a:endParaRPr b="1" i="0" sz="1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69" name="Google Shape;369;p41"/>
          <p:cNvGrpSpPr/>
          <p:nvPr/>
        </p:nvGrpSpPr>
        <p:grpSpPr>
          <a:xfrm>
            <a:off x="809625" y="2286000"/>
            <a:ext cx="10287150" cy="428700"/>
            <a:chOff x="809625" y="2286000"/>
            <a:chExt cx="10287150" cy="428700"/>
          </a:xfrm>
        </p:grpSpPr>
        <p:sp>
          <p:nvSpPr>
            <p:cNvPr id="370" name="Google Shape;370;p41"/>
            <p:cNvSpPr txBox="1"/>
            <p:nvPr/>
          </p:nvSpPr>
          <p:spPr>
            <a:xfrm>
              <a:off x="809625" y="22860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Data Type Checks</a:t>
              </a:r>
              <a:endParaRPr b="1" i="0" sz="12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71" name="Google Shape;371;p41"/>
            <p:cNvSpPr txBox="1"/>
            <p:nvPr/>
          </p:nvSpPr>
          <p:spPr>
            <a:xfrm>
              <a:off x="3333750" y="2286000"/>
              <a:ext cx="619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Confirmed for all tables and date formats.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72" name="Google Shape;372;p41"/>
            <p:cNvSpPr/>
            <p:nvPr/>
          </p:nvSpPr>
          <p:spPr>
            <a:xfrm>
              <a:off x="10048875" y="2381250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1"/>
            <p:cNvSpPr txBox="1"/>
            <p:nvPr/>
          </p:nvSpPr>
          <p:spPr>
            <a:xfrm>
              <a:off x="10048875" y="238125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PASS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cxnSp>
        <p:nvCxnSpPr>
          <p:cNvPr id="374" name="Google Shape;374;p41"/>
          <p:cNvCxnSpPr/>
          <p:nvPr/>
        </p:nvCxnSpPr>
        <p:spPr>
          <a:xfrm>
            <a:off x="571500" y="2762250"/>
            <a:ext cx="1104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5" name="Google Shape;375;p41"/>
          <p:cNvGrpSpPr/>
          <p:nvPr/>
        </p:nvGrpSpPr>
        <p:grpSpPr>
          <a:xfrm>
            <a:off x="809625" y="2809875"/>
            <a:ext cx="10287150" cy="428700"/>
            <a:chOff x="809625" y="2809875"/>
            <a:chExt cx="10287150" cy="428700"/>
          </a:xfrm>
        </p:grpSpPr>
        <p:sp>
          <p:nvSpPr>
            <p:cNvPr id="376" name="Google Shape;376;p41"/>
            <p:cNvSpPr txBox="1"/>
            <p:nvPr/>
          </p:nvSpPr>
          <p:spPr>
            <a:xfrm>
              <a:off x="809625" y="280987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NULL Checks</a:t>
              </a:r>
              <a:endParaRPr b="1" i="0" sz="12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77" name="Google Shape;377;p41"/>
            <p:cNvSpPr txBox="1"/>
            <p:nvPr/>
          </p:nvSpPr>
          <p:spPr>
            <a:xfrm>
              <a:off x="3333750" y="2809875"/>
              <a:ext cx="619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Zero missing values across every column.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10048875" y="2905125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1"/>
            <p:cNvSpPr txBox="1"/>
            <p:nvPr/>
          </p:nvSpPr>
          <p:spPr>
            <a:xfrm>
              <a:off x="10048875" y="290512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PASS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cxnSp>
        <p:nvCxnSpPr>
          <p:cNvPr id="380" name="Google Shape;380;p41"/>
          <p:cNvCxnSpPr/>
          <p:nvPr/>
        </p:nvCxnSpPr>
        <p:spPr>
          <a:xfrm>
            <a:off x="571500" y="3286125"/>
            <a:ext cx="1104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1" name="Google Shape;381;p41"/>
          <p:cNvGrpSpPr/>
          <p:nvPr/>
        </p:nvGrpSpPr>
        <p:grpSpPr>
          <a:xfrm>
            <a:off x="809625" y="3333750"/>
            <a:ext cx="10287150" cy="428700"/>
            <a:chOff x="809625" y="3333750"/>
            <a:chExt cx="10287150" cy="428700"/>
          </a:xfrm>
        </p:grpSpPr>
        <p:sp>
          <p:nvSpPr>
            <p:cNvPr id="382" name="Google Shape;382;p41"/>
            <p:cNvSpPr txBox="1"/>
            <p:nvPr/>
          </p:nvSpPr>
          <p:spPr>
            <a:xfrm>
              <a:off x="809625" y="333375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Duplicate Checks</a:t>
              </a:r>
              <a:endParaRPr b="1" i="0" sz="12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3" name="Google Shape;383;p41"/>
            <p:cNvSpPr txBox="1"/>
            <p:nvPr/>
          </p:nvSpPr>
          <p:spPr>
            <a:xfrm>
              <a:off x="3333750" y="3333750"/>
              <a:ext cx="619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High volume of exact duplicates and split line items in Sales table.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84" name="Google Shape;384;p41"/>
            <p:cNvSpPr/>
            <p:nvPr/>
          </p:nvSpPr>
          <p:spPr>
            <a:xfrm>
              <a:off x="10048875" y="3429000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1"/>
            <p:cNvSpPr txBox="1"/>
            <p:nvPr/>
          </p:nvSpPr>
          <p:spPr>
            <a:xfrm>
              <a:off x="10048875" y="342900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CRITICAL FAIL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cxnSp>
        <p:nvCxnSpPr>
          <p:cNvPr id="386" name="Google Shape;386;p41"/>
          <p:cNvCxnSpPr/>
          <p:nvPr/>
        </p:nvCxnSpPr>
        <p:spPr>
          <a:xfrm>
            <a:off x="571500" y="3810000"/>
            <a:ext cx="1104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7" name="Google Shape;387;p41"/>
          <p:cNvGrpSpPr/>
          <p:nvPr/>
        </p:nvGrpSpPr>
        <p:grpSpPr>
          <a:xfrm>
            <a:off x="809625" y="3857625"/>
            <a:ext cx="10287150" cy="428700"/>
            <a:chOff x="809625" y="3857625"/>
            <a:chExt cx="10287150" cy="428700"/>
          </a:xfrm>
        </p:grpSpPr>
        <p:sp>
          <p:nvSpPr>
            <p:cNvPr id="388" name="Google Shape;388;p41"/>
            <p:cNvSpPr txBox="1"/>
            <p:nvPr/>
          </p:nvSpPr>
          <p:spPr>
            <a:xfrm>
              <a:off x="809625" y="385762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Referential Integrity</a:t>
              </a:r>
              <a:endParaRPr b="1" i="0" sz="12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9" name="Google Shape;389;p41"/>
            <p:cNvSpPr txBox="1"/>
            <p:nvPr/>
          </p:nvSpPr>
          <p:spPr>
            <a:xfrm>
              <a:off x="3333750" y="3857625"/>
              <a:ext cx="619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Perfect mapping between Sales, Products, Factories, and Targets.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90" name="Google Shape;390;p41"/>
            <p:cNvSpPr/>
            <p:nvPr/>
          </p:nvSpPr>
          <p:spPr>
            <a:xfrm>
              <a:off x="10048875" y="3952875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1"/>
            <p:cNvSpPr txBox="1"/>
            <p:nvPr/>
          </p:nvSpPr>
          <p:spPr>
            <a:xfrm>
              <a:off x="10048875" y="39528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PASS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cxnSp>
        <p:nvCxnSpPr>
          <p:cNvPr id="392" name="Google Shape;392;p41"/>
          <p:cNvCxnSpPr/>
          <p:nvPr/>
        </p:nvCxnSpPr>
        <p:spPr>
          <a:xfrm>
            <a:off x="571500" y="4333875"/>
            <a:ext cx="1104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3" name="Google Shape;393;p41"/>
          <p:cNvGrpSpPr/>
          <p:nvPr/>
        </p:nvGrpSpPr>
        <p:grpSpPr>
          <a:xfrm>
            <a:off x="809625" y="4381500"/>
            <a:ext cx="10287150" cy="428700"/>
            <a:chOff x="809625" y="4381500"/>
            <a:chExt cx="10287150" cy="428700"/>
          </a:xfrm>
        </p:grpSpPr>
        <p:sp>
          <p:nvSpPr>
            <p:cNvPr id="394" name="Google Shape;394;p41"/>
            <p:cNvSpPr txBox="1"/>
            <p:nvPr/>
          </p:nvSpPr>
          <p:spPr>
            <a:xfrm>
              <a:off x="809625" y="43815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Business Rule Validation</a:t>
              </a:r>
              <a:endParaRPr b="1" i="0" sz="12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95" name="Google Shape;395;p41"/>
            <p:cNvSpPr txBox="1"/>
            <p:nvPr/>
          </p:nvSpPr>
          <p:spPr>
            <a:xfrm>
              <a:off x="3333750" y="4381500"/>
              <a:ext cx="619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Math is correct, but shipping logic reveals a 5-6 year delay anomaly.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10048875" y="4476750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1"/>
            <p:cNvSpPr txBox="1"/>
            <p:nvPr/>
          </p:nvSpPr>
          <p:spPr>
            <a:xfrm>
              <a:off x="10048875" y="447675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FAIL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cxnSp>
        <p:nvCxnSpPr>
          <p:cNvPr id="398" name="Google Shape;398;p41"/>
          <p:cNvCxnSpPr/>
          <p:nvPr/>
        </p:nvCxnSpPr>
        <p:spPr>
          <a:xfrm>
            <a:off x="571500" y="4857750"/>
            <a:ext cx="1104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9" name="Google Shape;399;p41"/>
          <p:cNvGrpSpPr/>
          <p:nvPr/>
        </p:nvGrpSpPr>
        <p:grpSpPr>
          <a:xfrm>
            <a:off x="809625" y="4905375"/>
            <a:ext cx="10287150" cy="428700"/>
            <a:chOff x="809625" y="4905375"/>
            <a:chExt cx="10287150" cy="428700"/>
          </a:xfrm>
        </p:grpSpPr>
        <p:sp>
          <p:nvSpPr>
            <p:cNvPr id="400" name="Google Shape;400;p41"/>
            <p:cNvSpPr txBox="1"/>
            <p:nvPr/>
          </p:nvSpPr>
          <p:spPr>
            <a:xfrm>
              <a:off x="809625" y="490537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Consistency Checks</a:t>
              </a:r>
              <a:endParaRPr b="1" i="0" sz="12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01" name="Google Shape;401;p41"/>
            <p:cNvSpPr txBox="1"/>
            <p:nvPr/>
          </p:nvSpPr>
          <p:spPr>
            <a:xfrm>
              <a:off x="3333750" y="4905375"/>
              <a:ext cx="619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Standardized spelling for Region, City, Product, and Country.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10048875" y="5000625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1"/>
            <p:cNvSpPr txBox="1"/>
            <p:nvPr/>
          </p:nvSpPr>
          <p:spPr>
            <a:xfrm>
              <a:off x="10048875" y="500062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PASS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04" name="Google Shape;404;p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fmla="val 15000" name="adj"/>
            </a:avLst>
          </a:prstGeom>
          <a:solidFill>
            <a:srgbClr val="F0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41"/>
          <p:cNvGrpSpPr/>
          <p:nvPr/>
        </p:nvGrpSpPr>
        <p:grpSpPr>
          <a:xfrm>
            <a:off x="809625" y="5524500"/>
            <a:ext cx="10572900" cy="762000"/>
            <a:chOff x="809625" y="5524500"/>
            <a:chExt cx="10572900" cy="762000"/>
          </a:xfrm>
        </p:grpSpPr>
        <p:sp>
          <p:nvSpPr>
            <p:cNvPr id="406" name="Google Shape;406;p41"/>
            <p:cNvSpPr txBox="1"/>
            <p:nvPr/>
          </p:nvSpPr>
          <p:spPr>
            <a:xfrm>
              <a:off x="809625" y="5660644"/>
              <a:ext cx="428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407" name="Google Shape;407;p41"/>
            <p:cNvSpPr txBox="1"/>
            <p:nvPr/>
          </p:nvSpPr>
          <p:spPr>
            <a:xfrm>
              <a:off x="1381125" y="5524500"/>
              <a:ext cx="1000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Migration Context</a:t>
              </a:r>
              <a:endParaRPr b="1" i="0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IN" sz="1300" u="none" cap="none" strike="noStrike">
                  <a:solidFill>
                    <a:srgbClr val="26262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Data imported into Snowflakes Server for deep-dive quality validation across 4 primary tables.</a:t>
              </a:r>
              <a:endParaRPr b="0" i="0" sz="1300" u="none" cap="none" strike="noStrike">
                <a:solidFill>
                  <a:srgbClr val="26262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/>
          <p:nvPr/>
        </p:nvSpPr>
        <p:spPr>
          <a:xfrm>
            <a:off x="0" y="10263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2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2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2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EDA - Data Foundation &amp; Quality Control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20" name="Google Shape;420;p42"/>
          <p:cNvGrpSpPr/>
          <p:nvPr/>
        </p:nvGrpSpPr>
        <p:grpSpPr>
          <a:xfrm>
            <a:off x="571500" y="1524000"/>
            <a:ext cx="5238900" cy="1905150"/>
            <a:chOff x="571500" y="1524000"/>
            <a:chExt cx="5238900" cy="1905150"/>
          </a:xfrm>
        </p:grpSpPr>
        <p:sp>
          <p:nvSpPr>
            <p:cNvPr id="421" name="Google Shape;421;p42"/>
            <p:cNvSpPr txBox="1"/>
            <p:nvPr/>
          </p:nvSpPr>
          <p:spPr>
            <a:xfrm>
              <a:off x="571500" y="1524000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Multi-Source Integration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571500" y="2000250"/>
              <a:ext cx="5238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2"/>
            <p:cNvSpPr txBox="1"/>
            <p:nvPr/>
          </p:nvSpPr>
          <p:spPr>
            <a:xfrm>
              <a:off x="762000" y="2190750"/>
              <a:ext cx="485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0"/>
                <a:buFont typeface="Arial"/>
                <a:buNone/>
              </a:pPr>
              <a:r>
                <a:rPr b="0" i="0" lang="en-IN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Consolidated four disparate master tables into a unified analytical environment:</a:t>
              </a:r>
              <a:endParaRPr b="0" i="0" sz="102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-29337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666666"/>
                </a:buClr>
                <a:buSzPts val="1020"/>
                <a:buFont typeface="Raleway"/>
                <a:buChar char="●"/>
              </a:pPr>
              <a:r>
                <a:rPr b="1" i="0" lang="en-IN" sz="102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Sales:</a:t>
              </a:r>
              <a:r>
                <a:rPr b="0" i="0" lang="en-IN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Transactional order history</a:t>
              </a:r>
              <a:endParaRPr b="0" i="0" sz="102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-293370" lvl="0" marL="4572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1020"/>
                <a:buFont typeface="Raleway"/>
                <a:buChar char="●"/>
              </a:pPr>
              <a:r>
                <a:rPr b="1" i="0" lang="en-IN" sz="102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Products:</a:t>
              </a:r>
              <a:r>
                <a:rPr b="0" i="0" lang="en-IN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Master pricing &amp; division catalog</a:t>
              </a:r>
              <a:endParaRPr b="0" i="0" sz="102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-293370" lvl="0" marL="4572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666666"/>
                </a:buClr>
                <a:buSzPts val="1020"/>
                <a:buFont typeface="Raleway"/>
                <a:buChar char="●"/>
              </a:pPr>
              <a:r>
                <a:rPr b="1" i="0" lang="en-IN" sz="102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Factories:</a:t>
              </a:r>
              <a:r>
                <a:rPr b="0" i="0" lang="en-IN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Capacity &amp; location telemetry</a:t>
              </a:r>
              <a:endParaRPr b="0" i="0" sz="102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-293370" lvl="0" marL="4572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666666"/>
                </a:buClr>
                <a:buSzPts val="1020"/>
                <a:buFont typeface="Raleway"/>
                <a:buChar char="●"/>
              </a:pPr>
              <a:r>
                <a:rPr b="1" i="0" lang="en-IN" sz="102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Targets:</a:t>
              </a:r>
              <a:r>
                <a:rPr b="0" i="0" lang="en-IN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Strategic growth benchmarks</a:t>
              </a:r>
              <a:endParaRPr b="0" i="0" sz="102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424" name="Google Shape;424;p42"/>
          <p:cNvGrpSpPr/>
          <p:nvPr/>
        </p:nvGrpSpPr>
        <p:grpSpPr>
          <a:xfrm>
            <a:off x="571500" y="3619500"/>
            <a:ext cx="5238900" cy="2667150"/>
            <a:chOff x="571500" y="3619500"/>
            <a:chExt cx="5238900" cy="2667150"/>
          </a:xfrm>
        </p:grpSpPr>
        <p:sp>
          <p:nvSpPr>
            <p:cNvPr id="425" name="Google Shape;425;p42"/>
            <p:cNvSpPr txBox="1"/>
            <p:nvPr/>
          </p:nvSpPr>
          <p:spPr>
            <a:xfrm>
              <a:off x="571500" y="3619500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Analytical Stack Optimization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571500" y="409575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lean, minimalist 3D rendering representing data flow from a server to a laptop, professional tech aesthetic, turquoise and white color scheme." id="427" name="Google Shape;427;p42"/>
            <p:cNvPicPr preferRelativeResize="0"/>
            <p:nvPr/>
          </p:nvPicPr>
          <p:blipFill rotWithShape="1">
            <a:blip r:embed="rId3">
              <a:alphaModFix/>
            </a:blip>
            <a:srcRect b="-11435" l="0" r="5882" t="33004"/>
            <a:stretch/>
          </p:blipFill>
          <p:spPr>
            <a:xfrm>
              <a:off x="762000" y="4095750"/>
              <a:ext cx="4572000" cy="1634700"/>
            </a:xfrm>
            <a:prstGeom prst="roundRect">
              <a:avLst>
                <a:gd fmla="val 4000" name="adj"/>
              </a:avLst>
            </a:prstGeom>
            <a:noFill/>
            <a:ln>
              <a:noFill/>
            </a:ln>
          </p:spPr>
        </p:pic>
        <p:sp>
          <p:nvSpPr>
            <p:cNvPr id="428" name="Google Shape;428;p42"/>
            <p:cNvSpPr txBox="1"/>
            <p:nvPr/>
          </p:nvSpPr>
          <p:spPr>
            <a:xfrm>
              <a:off x="762000" y="5619750"/>
              <a:ext cx="4857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0"/>
                <a:buFont typeface="Arial"/>
                <a:buNone/>
              </a:pPr>
              <a:r>
                <a:rPr b="1" i="0" lang="en-IN" sz="102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Pipeline:</a:t>
              </a:r>
              <a:r>
                <a:rPr b="0" i="0" lang="en-IN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Converted large-scale raw data from Spark (Snowflake/Databricks) to high-performance Pandas DataFrames to enable complex regression and EDA.</a:t>
              </a:r>
              <a:endParaRPr b="0" i="0" sz="102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429" name="Google Shape;429;p42"/>
          <p:cNvGrpSpPr/>
          <p:nvPr/>
        </p:nvGrpSpPr>
        <p:grpSpPr>
          <a:xfrm>
            <a:off x="6381750" y="1524000"/>
            <a:ext cx="5238900" cy="4762650"/>
            <a:chOff x="6381750" y="1524000"/>
            <a:chExt cx="5238900" cy="4762650"/>
          </a:xfrm>
        </p:grpSpPr>
        <p:sp>
          <p:nvSpPr>
            <p:cNvPr id="430" name="Google Shape;430;p42"/>
            <p:cNvSpPr txBox="1"/>
            <p:nvPr/>
          </p:nvSpPr>
          <p:spPr>
            <a:xfrm>
              <a:off x="6381750" y="1524000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Quality Assurance Checklist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6381750" y="2000250"/>
              <a:ext cx="5238900" cy="42864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" name="Google Shape;432;p42"/>
            <p:cNvGrpSpPr/>
            <p:nvPr/>
          </p:nvGrpSpPr>
          <p:grpSpPr>
            <a:xfrm>
              <a:off x="6619875" y="2286000"/>
              <a:ext cx="4715025" cy="714375"/>
              <a:chOff x="6619875" y="2286000"/>
              <a:chExt cx="4715025" cy="714375"/>
            </a:xfrm>
          </p:grpSpPr>
          <p:sp>
            <p:nvSpPr>
              <p:cNvPr id="433" name="Google Shape;433;p42"/>
              <p:cNvSpPr txBox="1"/>
              <p:nvPr/>
            </p:nvSpPr>
            <p:spPr>
              <a:xfrm>
                <a:off x="6619875" y="2321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34" name="Google Shape;434;p42"/>
              <p:cNvSpPr txBox="1"/>
              <p:nvPr/>
            </p:nvSpPr>
            <p:spPr>
              <a:xfrm>
                <a:off x="7096125" y="228600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Date Parsing Accuracy</a:t>
                </a:r>
                <a:endParaRPr b="1" i="0" sz="14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35" name="Google Shape;435;p42"/>
              <p:cNvSpPr txBox="1"/>
              <p:nvPr/>
            </p:nvSpPr>
            <p:spPr>
              <a:xfrm>
                <a:off x="7096125" y="2619375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0"/>
                  <a:buFont typeface="Arial"/>
                  <a:buNone/>
                </a:pPr>
                <a:r>
                  <a:rPr b="0" i="0" lang="en-IN" sz="102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Validated Order vs. Ship date intervals for consistency.</a:t>
                </a:r>
                <a:endParaRPr b="0" i="0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436" name="Google Shape;436;p42"/>
              <p:cNvSpPr/>
              <p:nvPr/>
            </p:nvSpPr>
            <p:spPr>
              <a:xfrm>
                <a:off x="10287000" y="2362200"/>
                <a:ext cx="1047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42"/>
              <p:cNvSpPr txBox="1"/>
              <p:nvPr/>
            </p:nvSpPr>
            <p:spPr>
              <a:xfrm>
                <a:off x="10287000" y="236220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PASS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cxnSp>
          <p:nvCxnSpPr>
            <p:cNvPr id="438" name="Google Shape;438;p42"/>
            <p:cNvCxnSpPr/>
            <p:nvPr/>
          </p:nvCxnSpPr>
          <p:spPr>
            <a:xfrm>
              <a:off x="6619875" y="3143250"/>
              <a:ext cx="4714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39" name="Google Shape;439;p42"/>
            <p:cNvGrpSpPr/>
            <p:nvPr/>
          </p:nvGrpSpPr>
          <p:grpSpPr>
            <a:xfrm>
              <a:off x="6619875" y="3429000"/>
              <a:ext cx="4715025" cy="714375"/>
              <a:chOff x="6619875" y="3429000"/>
              <a:chExt cx="4715025" cy="714375"/>
            </a:xfrm>
          </p:grpSpPr>
          <p:sp>
            <p:nvSpPr>
              <p:cNvPr id="440" name="Google Shape;440;p42"/>
              <p:cNvSpPr txBox="1"/>
              <p:nvPr/>
            </p:nvSpPr>
            <p:spPr>
              <a:xfrm>
                <a:off x="6619875" y="3464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41" name="Google Shape;441;p42"/>
              <p:cNvSpPr txBox="1"/>
              <p:nvPr/>
            </p:nvSpPr>
            <p:spPr>
              <a:xfrm>
                <a:off x="7096125" y="342900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Missing Value Audit</a:t>
                </a:r>
                <a:endParaRPr b="1" i="0" sz="14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42" name="Google Shape;442;p42"/>
              <p:cNvSpPr txBox="1"/>
              <p:nvPr/>
            </p:nvSpPr>
            <p:spPr>
              <a:xfrm>
                <a:off x="7096125" y="3762375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0"/>
                  <a:buFont typeface="Arial"/>
                  <a:buNone/>
                </a:pPr>
                <a:r>
                  <a:rPr b="0" i="0" lang="en-IN" sz="102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Zero missing values detected across all columns.</a:t>
                </a:r>
                <a:endParaRPr b="0" i="0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443" name="Google Shape;443;p42"/>
              <p:cNvSpPr/>
              <p:nvPr/>
            </p:nvSpPr>
            <p:spPr>
              <a:xfrm>
                <a:off x="10287000" y="3505200"/>
                <a:ext cx="1047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42"/>
              <p:cNvSpPr txBox="1"/>
              <p:nvPr/>
            </p:nvSpPr>
            <p:spPr>
              <a:xfrm>
                <a:off x="10287000" y="350520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100% CLEAN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cxnSp>
          <p:nvCxnSpPr>
            <p:cNvPr id="445" name="Google Shape;445;p42"/>
            <p:cNvCxnSpPr/>
            <p:nvPr/>
          </p:nvCxnSpPr>
          <p:spPr>
            <a:xfrm>
              <a:off x="6619875" y="4286250"/>
              <a:ext cx="4714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46" name="Google Shape;446;p42"/>
            <p:cNvGrpSpPr/>
            <p:nvPr/>
          </p:nvGrpSpPr>
          <p:grpSpPr>
            <a:xfrm>
              <a:off x="6619875" y="4572000"/>
              <a:ext cx="4715025" cy="714375"/>
              <a:chOff x="6619875" y="4572000"/>
              <a:chExt cx="4715025" cy="714375"/>
            </a:xfrm>
          </p:grpSpPr>
          <p:sp>
            <p:nvSpPr>
              <p:cNvPr id="447" name="Google Shape;447;p42"/>
              <p:cNvSpPr txBox="1"/>
              <p:nvPr/>
            </p:nvSpPr>
            <p:spPr>
              <a:xfrm>
                <a:off x="6619875" y="4607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48" name="Google Shape;448;p42"/>
              <p:cNvSpPr txBox="1"/>
              <p:nvPr/>
            </p:nvSpPr>
            <p:spPr>
              <a:xfrm>
                <a:off x="7096125" y="457200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Duplicate Scrubbing</a:t>
                </a:r>
                <a:endParaRPr b="1" i="0" sz="14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449" name="Google Shape;449;p42"/>
              <p:cNvSpPr txBox="1"/>
              <p:nvPr/>
            </p:nvSpPr>
            <p:spPr>
              <a:xfrm>
                <a:off x="7096125" y="4905375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0"/>
                  <a:buFont typeface="Arial"/>
                  <a:buNone/>
                </a:pPr>
                <a:r>
                  <a:rPr b="0" i="0" lang="en-IN" sz="102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100% duplicate check completion; exact matches removed.</a:t>
                </a:r>
                <a:endParaRPr b="0" i="0" sz="102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450" name="Google Shape;450;p42"/>
              <p:cNvSpPr/>
              <p:nvPr/>
            </p:nvSpPr>
            <p:spPr>
              <a:xfrm>
                <a:off x="10287000" y="4648200"/>
                <a:ext cx="1047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42"/>
              <p:cNvSpPr txBox="1"/>
              <p:nvPr/>
            </p:nvSpPr>
            <p:spPr>
              <a:xfrm>
                <a:off x="10287000" y="464820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COMPLETE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452" name="Google Shape;452;p42"/>
            <p:cNvSpPr/>
            <p:nvPr/>
          </p:nvSpPr>
          <p:spPr>
            <a:xfrm>
              <a:off x="6619875" y="5524500"/>
              <a:ext cx="4762500" cy="571500"/>
            </a:xfrm>
            <a:prstGeom prst="roundRect">
              <a:avLst>
                <a:gd fmla="val 13333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2"/>
            <p:cNvSpPr txBox="1"/>
            <p:nvPr/>
          </p:nvSpPr>
          <p:spPr>
            <a:xfrm>
              <a:off x="6762750" y="5524500"/>
              <a:ext cx="4476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Standardization:</a:t>
              </a:r>
              <a:r>
                <a:rPr b="0" i="0" lang="en-IN" sz="1100" u="none" cap="none" strike="noStrike">
                  <a:solidFill>
                    <a:srgbClr val="348E90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Verified 100% naming consistency across Region, City, Product, and Country identifiers.</a:t>
              </a:r>
              <a:endParaRPr b="0" i="0" sz="1100" u="none" cap="none" strike="noStrike">
                <a:solidFill>
                  <a:srgbClr val="348E90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3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3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KPI and KRA Framework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66" name="Google Shape;466;p43"/>
          <p:cNvGrpSpPr/>
          <p:nvPr/>
        </p:nvGrpSpPr>
        <p:grpSpPr>
          <a:xfrm>
            <a:off x="571500" y="1428750"/>
            <a:ext cx="5238900" cy="4857750"/>
            <a:chOff x="571500" y="1428750"/>
            <a:chExt cx="5238900" cy="4857750"/>
          </a:xfrm>
        </p:grpSpPr>
        <p:sp>
          <p:nvSpPr>
            <p:cNvPr id="467" name="Google Shape;467;p43"/>
            <p:cNvSpPr txBox="1"/>
            <p:nvPr/>
          </p:nvSpPr>
          <p:spPr>
            <a:xfrm>
              <a:off x="571500" y="1428750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Key Performance Indicators (KPIs)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68" name="Google Shape;468;p43"/>
            <p:cNvSpPr/>
            <p:nvPr/>
          </p:nvSpPr>
          <p:spPr>
            <a:xfrm>
              <a:off x="571500" y="1905000"/>
              <a:ext cx="52389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" name="Google Shape;469;p43"/>
            <p:cNvGrpSpPr/>
            <p:nvPr/>
          </p:nvGrpSpPr>
          <p:grpSpPr>
            <a:xfrm>
              <a:off x="762000" y="2095500"/>
              <a:ext cx="4857900" cy="809700"/>
              <a:chOff x="762000" y="2095500"/>
              <a:chExt cx="4857900" cy="809700"/>
            </a:xfrm>
          </p:grpSpPr>
          <p:sp>
            <p:nvSpPr>
              <p:cNvPr id="470" name="Google Shape;470;p43"/>
              <p:cNvSpPr txBox="1"/>
              <p:nvPr/>
            </p:nvSpPr>
            <p:spPr>
              <a:xfrm>
                <a:off x="762000" y="212471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0"/>
                  <a:buFont typeface="Arial"/>
                  <a:buNone/>
                </a:pPr>
                <a:r>
                  <a:t/>
                </a:r>
                <a:endParaRPr b="0" i="0" sz="185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71" name="Google Shape;471;p43"/>
              <p:cNvSpPr txBox="1"/>
              <p:nvPr/>
            </p:nvSpPr>
            <p:spPr>
              <a:xfrm>
                <a:off x="1143000" y="2095500"/>
                <a:ext cx="44769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Sales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Total Revenue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Total Units Sold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Total Orders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472" name="Google Shape;472;p43"/>
            <p:cNvGrpSpPr/>
            <p:nvPr/>
          </p:nvGrpSpPr>
          <p:grpSpPr>
            <a:xfrm>
              <a:off x="762000" y="3143250"/>
              <a:ext cx="4857900" cy="809700"/>
              <a:chOff x="762000" y="3143250"/>
              <a:chExt cx="4857900" cy="809700"/>
            </a:xfrm>
          </p:grpSpPr>
          <p:sp>
            <p:nvSpPr>
              <p:cNvPr id="473" name="Google Shape;473;p43"/>
              <p:cNvSpPr txBox="1"/>
              <p:nvPr/>
            </p:nvSpPr>
            <p:spPr>
              <a:xfrm>
                <a:off x="762000" y="317246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0"/>
                  <a:buFont typeface="Arial"/>
                  <a:buNone/>
                </a:pPr>
                <a:r>
                  <a:t/>
                </a:r>
                <a:endParaRPr b="0" i="0" sz="185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74" name="Google Shape;474;p43"/>
              <p:cNvSpPr txBox="1"/>
              <p:nvPr/>
            </p:nvSpPr>
            <p:spPr>
              <a:xfrm>
                <a:off x="1143000" y="3143250"/>
                <a:ext cx="44769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Profitability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Gross Profit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Gross Profit Margin %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Average Order Value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475" name="Google Shape;475;p43"/>
            <p:cNvGrpSpPr/>
            <p:nvPr/>
          </p:nvGrpSpPr>
          <p:grpSpPr>
            <a:xfrm>
              <a:off x="762000" y="4191000"/>
              <a:ext cx="4857900" cy="809700"/>
              <a:chOff x="762000" y="4191000"/>
              <a:chExt cx="4857900" cy="809700"/>
            </a:xfrm>
          </p:grpSpPr>
          <p:sp>
            <p:nvSpPr>
              <p:cNvPr id="476" name="Google Shape;476;p43"/>
              <p:cNvSpPr txBox="1"/>
              <p:nvPr/>
            </p:nvSpPr>
            <p:spPr>
              <a:xfrm>
                <a:off x="762000" y="422021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0"/>
                  <a:buFont typeface="Arial"/>
                  <a:buNone/>
                </a:pPr>
                <a:r>
                  <a:t/>
                </a:r>
                <a:endParaRPr b="0" i="0" sz="185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77" name="Google Shape;477;p43"/>
              <p:cNvSpPr txBox="1"/>
              <p:nvPr/>
            </p:nvSpPr>
            <p:spPr>
              <a:xfrm>
                <a:off x="1143000" y="4191000"/>
                <a:ext cx="44769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Target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Target Attainment %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Target Gap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Revenue Growth Rate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478" name="Google Shape;478;p43"/>
            <p:cNvGrpSpPr/>
            <p:nvPr/>
          </p:nvGrpSpPr>
          <p:grpSpPr>
            <a:xfrm>
              <a:off x="762000" y="5238750"/>
              <a:ext cx="4857900" cy="809700"/>
              <a:chOff x="762000" y="5238750"/>
              <a:chExt cx="4857900" cy="809700"/>
            </a:xfrm>
          </p:grpSpPr>
          <p:sp>
            <p:nvSpPr>
              <p:cNvPr id="479" name="Google Shape;479;p43"/>
              <p:cNvSpPr txBox="1"/>
              <p:nvPr/>
            </p:nvSpPr>
            <p:spPr>
              <a:xfrm>
                <a:off x="762000" y="526796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0"/>
                  <a:buFont typeface="Arial"/>
                  <a:buNone/>
                </a:pPr>
                <a:r>
                  <a:t/>
                </a:r>
                <a:endParaRPr b="0" i="0" sz="185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480" name="Google Shape;480;p43"/>
              <p:cNvSpPr txBox="1"/>
              <p:nvPr/>
            </p:nvSpPr>
            <p:spPr>
              <a:xfrm>
                <a:off x="1143000" y="5238750"/>
                <a:ext cx="44769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en-IN" sz="13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Operations</a:t>
                </a:r>
                <a:endParaRPr b="1" i="0" sz="13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Avg Ship Time (Days)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Cost-to-Sales Ratio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44444"/>
                  </a:buClr>
                  <a:buSzPts val="1100"/>
                  <a:buFont typeface="Raleway"/>
                  <a:buChar char="●"/>
                </a:pPr>
                <a:r>
                  <a:rPr b="0" i="0" lang="en-IN" sz="11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Revenue per Product</a:t>
                </a:r>
                <a:endParaRPr b="0" i="0" sz="11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</p:grpSp>
      <p:cxnSp>
        <p:nvCxnSpPr>
          <p:cNvPr id="481" name="Google Shape;481;p43"/>
          <p:cNvCxnSpPr/>
          <p:nvPr/>
        </p:nvCxnSpPr>
        <p:spPr>
          <a:xfrm>
            <a:off x="6096000" y="1714500"/>
            <a:ext cx="0" cy="4762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2" name="Google Shape;482;p43"/>
          <p:cNvGrpSpPr/>
          <p:nvPr/>
        </p:nvGrpSpPr>
        <p:grpSpPr>
          <a:xfrm>
            <a:off x="6381750" y="1428750"/>
            <a:ext cx="5238900" cy="4857750"/>
            <a:chOff x="6381750" y="1428750"/>
            <a:chExt cx="5238900" cy="4857750"/>
          </a:xfrm>
        </p:grpSpPr>
        <p:sp>
          <p:nvSpPr>
            <p:cNvPr id="483" name="Google Shape;483;p43"/>
            <p:cNvSpPr txBox="1"/>
            <p:nvPr/>
          </p:nvSpPr>
          <p:spPr>
            <a:xfrm>
              <a:off x="6381750" y="1428750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Key Result Areas (KRAs)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84" name="Google Shape;484;p43"/>
            <p:cNvSpPr/>
            <p:nvPr/>
          </p:nvSpPr>
          <p:spPr>
            <a:xfrm>
              <a:off x="6381750" y="1905000"/>
              <a:ext cx="52389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" name="Google Shape;485;p43"/>
            <p:cNvGrpSpPr/>
            <p:nvPr/>
          </p:nvGrpSpPr>
          <p:grpSpPr>
            <a:xfrm>
              <a:off x="6572250" y="2095500"/>
              <a:ext cx="4857900" cy="1143000"/>
              <a:chOff x="6572250" y="2095500"/>
              <a:chExt cx="4857900" cy="1143000"/>
            </a:xfrm>
          </p:grpSpPr>
          <p:sp>
            <p:nvSpPr>
              <p:cNvPr id="486" name="Google Shape;486;p43"/>
              <p:cNvSpPr/>
              <p:nvPr/>
            </p:nvSpPr>
            <p:spPr>
              <a:xfrm>
                <a:off x="6572250" y="2095500"/>
                <a:ext cx="48579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43"/>
              <p:cNvSpPr txBox="1"/>
              <p:nvPr/>
            </p:nvSpPr>
            <p:spPr>
              <a:xfrm>
                <a:off x="6715125" y="2238375"/>
                <a:ext cx="4572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26262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Descriptive Analysis</a:t>
                </a:r>
                <a:endParaRPr b="1" i="0" sz="14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Sales Performance (revenue/units/trends), Profitability Analysis (products/regions), and Target vs Actuals.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488" name="Google Shape;488;p43"/>
            <p:cNvGrpSpPr/>
            <p:nvPr/>
          </p:nvGrpSpPr>
          <p:grpSpPr>
            <a:xfrm>
              <a:off x="6572250" y="3381375"/>
              <a:ext cx="4857900" cy="1333500"/>
              <a:chOff x="6572250" y="3381375"/>
              <a:chExt cx="4857900" cy="1333500"/>
            </a:xfrm>
          </p:grpSpPr>
          <p:sp>
            <p:nvSpPr>
              <p:cNvPr id="489" name="Google Shape;489;p43"/>
              <p:cNvSpPr/>
              <p:nvPr/>
            </p:nvSpPr>
            <p:spPr>
              <a:xfrm>
                <a:off x="6572250" y="3381375"/>
                <a:ext cx="4857900" cy="1333500"/>
              </a:xfrm>
              <a:prstGeom prst="roundRect">
                <a:avLst>
                  <a:gd fmla="val 5714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43"/>
              <p:cNvSpPr txBox="1"/>
              <p:nvPr/>
            </p:nvSpPr>
            <p:spPr>
              <a:xfrm>
                <a:off x="6715125" y="3524250"/>
                <a:ext cx="4572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26262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Diagnostic Analysis</a:t>
                </a:r>
                <a:endParaRPr b="1" i="0" sz="1400" u="none" cap="none" strike="noStrike">
                  <a:solidFill>
                    <a:srgbClr val="26262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Regional Performance (outliers), Product Mix (revenue vs profit), Seasonality/Trends (YoY patterns), and Shipping Efficiency (delays/modes).</a:t>
                </a:r>
                <a:endParaRPr b="0" i="0" sz="11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491" name="Google Shape;491;p43"/>
            <p:cNvGrpSpPr/>
            <p:nvPr/>
          </p:nvGrpSpPr>
          <p:grpSpPr>
            <a:xfrm>
              <a:off x="6572250" y="4857750"/>
              <a:ext cx="4857900" cy="1238400"/>
              <a:chOff x="6572250" y="4857750"/>
              <a:chExt cx="4857900" cy="1238400"/>
            </a:xfrm>
          </p:grpSpPr>
          <p:sp>
            <p:nvSpPr>
              <p:cNvPr id="492" name="Google Shape;492;p43"/>
              <p:cNvSpPr/>
              <p:nvPr/>
            </p:nvSpPr>
            <p:spPr>
              <a:xfrm>
                <a:off x="6572250" y="4857750"/>
                <a:ext cx="4857900" cy="1238400"/>
              </a:xfrm>
              <a:prstGeom prst="roundRect">
                <a:avLst>
                  <a:gd fmla="val 6153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3"/>
              <p:cNvSpPr txBox="1"/>
              <p:nvPr/>
            </p:nvSpPr>
            <p:spPr>
              <a:xfrm>
                <a:off x="6715125" y="5000625"/>
                <a:ext cx="4572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Predictive Analysis</a:t>
                </a:r>
                <a:endParaRPr b="1" i="0" sz="14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E0F2F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Sales Prediction models for long-term strategic planning.</a:t>
                </a:r>
                <a:endParaRPr b="0" i="0" sz="1100" u="none" cap="none" strike="noStrike">
                  <a:solidFill>
                    <a:srgbClr val="E0F2F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4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4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Customer Distribution Analysis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06" name="Google Shape;506;p44"/>
          <p:cNvGrpSpPr/>
          <p:nvPr/>
        </p:nvGrpSpPr>
        <p:grpSpPr>
          <a:xfrm>
            <a:off x="571500" y="1524000"/>
            <a:ext cx="11039550" cy="1143000"/>
            <a:chOff x="571500" y="1524000"/>
            <a:chExt cx="11039550" cy="1143000"/>
          </a:xfrm>
        </p:grpSpPr>
        <p:sp>
          <p:nvSpPr>
            <p:cNvPr id="507" name="Google Shape;507;p44"/>
            <p:cNvSpPr/>
            <p:nvPr/>
          </p:nvSpPr>
          <p:spPr>
            <a:xfrm>
              <a:off x="571500" y="1524000"/>
              <a:ext cx="3552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4"/>
            <p:cNvSpPr txBox="1"/>
            <p:nvPr/>
          </p:nvSpPr>
          <p:spPr>
            <a:xfrm>
              <a:off x="762000" y="1714500"/>
              <a:ext cx="3171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5,044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IN" sz="14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Total Customers</a:t>
              </a:r>
              <a:endParaRPr b="0" i="0" sz="14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509" name="Google Shape;509;p44"/>
            <p:cNvSpPr/>
            <p:nvPr/>
          </p:nvSpPr>
          <p:spPr>
            <a:xfrm>
              <a:off x="4314825" y="1524000"/>
              <a:ext cx="3552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4"/>
            <p:cNvSpPr txBox="1"/>
            <p:nvPr/>
          </p:nvSpPr>
          <p:spPr>
            <a:xfrm>
              <a:off x="4505325" y="1714500"/>
              <a:ext cx="3171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8,549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IN" sz="14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Total Orders</a:t>
              </a:r>
              <a:endParaRPr b="0" i="0" sz="14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8058150" y="1524000"/>
              <a:ext cx="3552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4"/>
            <p:cNvSpPr txBox="1"/>
            <p:nvPr/>
          </p:nvSpPr>
          <p:spPr>
            <a:xfrm>
              <a:off x="8248650" y="1714500"/>
              <a:ext cx="3171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1.69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IN" sz="14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Avg Orders per Customer</a:t>
              </a:r>
              <a:endParaRPr b="0" i="0" sz="14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</p:grpSp>
      <p:grpSp>
        <p:nvGrpSpPr>
          <p:cNvPr id="513" name="Google Shape;513;p44"/>
          <p:cNvGrpSpPr/>
          <p:nvPr/>
        </p:nvGrpSpPr>
        <p:grpSpPr>
          <a:xfrm>
            <a:off x="571500" y="2857500"/>
            <a:ext cx="5429400" cy="3048000"/>
            <a:chOff x="571500" y="2857500"/>
            <a:chExt cx="5429400" cy="3048000"/>
          </a:xfrm>
        </p:grpSpPr>
        <p:sp>
          <p:nvSpPr>
            <p:cNvPr id="514" name="Google Shape;514;p44"/>
            <p:cNvSpPr/>
            <p:nvPr/>
          </p:nvSpPr>
          <p:spPr>
            <a:xfrm>
              <a:off x="571500" y="2857500"/>
              <a:ext cx="54294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4"/>
            <p:cNvSpPr txBox="1"/>
            <p:nvPr/>
          </p:nvSpPr>
          <p:spPr>
            <a:xfrm>
              <a:off x="809625" y="30480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Buyer Type Breakdown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1333500" y="3905250"/>
              <a:ext cx="1333500" cy="133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381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7" name="Google Shape;517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4025" y="3786188"/>
              <a:ext cx="1062000" cy="157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14438" y="3786188"/>
              <a:ext cx="7716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85963" y="3786188"/>
              <a:ext cx="19200" cy="238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0" name="Google Shape;520;p44"/>
            <p:cNvGrpSpPr/>
            <p:nvPr/>
          </p:nvGrpSpPr>
          <p:grpSpPr>
            <a:xfrm>
              <a:off x="2952750" y="3695700"/>
              <a:ext cx="2857500" cy="762000"/>
              <a:chOff x="2952750" y="3695700"/>
              <a:chExt cx="2857500" cy="762000"/>
            </a:xfrm>
          </p:grpSpPr>
          <p:sp>
            <p:nvSpPr>
              <p:cNvPr id="521" name="Google Shape;521;p44"/>
              <p:cNvSpPr/>
              <p:nvPr/>
            </p:nvSpPr>
            <p:spPr>
              <a:xfrm>
                <a:off x="2952750" y="3714750"/>
                <a:ext cx="114300" cy="114300"/>
              </a:xfrm>
              <a:prstGeom prst="rect">
                <a:avLst/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44"/>
              <p:cNvSpPr txBox="1"/>
              <p:nvPr/>
            </p:nvSpPr>
            <p:spPr>
              <a:xfrm>
                <a:off x="3143250" y="3695700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One-Time Buyers: 2,811 (55.7%)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23" name="Google Shape;523;p44"/>
              <p:cNvSpPr/>
              <p:nvPr/>
            </p:nvSpPr>
            <p:spPr>
              <a:xfrm>
                <a:off x="2952750" y="4000500"/>
                <a:ext cx="114300" cy="114300"/>
              </a:xfrm>
              <a:prstGeom prst="rect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44"/>
              <p:cNvSpPr txBox="1"/>
              <p:nvPr/>
            </p:nvSpPr>
            <p:spPr>
              <a:xfrm>
                <a:off x="3143250" y="3981450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Occasional Buyers: 2,218 (44%)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25" name="Google Shape;525;p44"/>
              <p:cNvSpPr/>
              <p:nvPr/>
            </p:nvSpPr>
            <p:spPr>
              <a:xfrm>
                <a:off x="2952750" y="4286250"/>
                <a:ext cx="114300" cy="1143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44"/>
              <p:cNvSpPr txBox="1"/>
              <p:nvPr/>
            </p:nvSpPr>
            <p:spPr>
              <a:xfrm>
                <a:off x="3143250" y="4267200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Repeat Buyers: 15 (0.3%)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sp>
          <p:nvSpPr>
            <p:cNvPr id="527" name="Google Shape;527;p44"/>
            <p:cNvSpPr/>
            <p:nvPr/>
          </p:nvSpPr>
          <p:spPr>
            <a:xfrm>
              <a:off x="2952750" y="4667250"/>
              <a:ext cx="2857500" cy="1047900"/>
            </a:xfrm>
            <a:prstGeom prst="roundRect">
              <a:avLst>
                <a:gd fmla="val 7272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4"/>
            <p:cNvSpPr txBox="1"/>
            <p:nvPr/>
          </p:nvSpPr>
          <p:spPr>
            <a:xfrm>
              <a:off x="3095625" y="4810125"/>
              <a:ext cx="2571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55.7% of customers ordered only once — a loyalty programme is critical to improving retention.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29" name="Google Shape;529;p44"/>
          <p:cNvGrpSpPr/>
          <p:nvPr/>
        </p:nvGrpSpPr>
        <p:grpSpPr>
          <a:xfrm>
            <a:off x="6191250" y="2857500"/>
            <a:ext cx="5429400" cy="3048000"/>
            <a:chOff x="6191250" y="2857500"/>
            <a:chExt cx="5429400" cy="3048000"/>
          </a:xfrm>
        </p:grpSpPr>
        <p:sp>
          <p:nvSpPr>
            <p:cNvPr id="530" name="Google Shape;530;p44"/>
            <p:cNvSpPr/>
            <p:nvPr/>
          </p:nvSpPr>
          <p:spPr>
            <a:xfrm>
              <a:off x="6191250" y="2857500"/>
              <a:ext cx="54294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4"/>
            <p:cNvSpPr txBox="1"/>
            <p:nvPr/>
          </p:nvSpPr>
          <p:spPr>
            <a:xfrm>
              <a:off x="6429375" y="30480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Customer Distribution by Region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532" name="Google Shape;532;p44"/>
            <p:cNvGrpSpPr/>
            <p:nvPr/>
          </p:nvGrpSpPr>
          <p:grpSpPr>
            <a:xfrm>
              <a:off x="6429375" y="3571875"/>
              <a:ext cx="5191275" cy="1524075"/>
              <a:chOff x="6429375" y="3571875"/>
              <a:chExt cx="5191275" cy="1524075"/>
            </a:xfrm>
          </p:grpSpPr>
          <p:sp>
            <p:nvSpPr>
              <p:cNvPr id="533" name="Google Shape;533;p44"/>
              <p:cNvSpPr txBox="1"/>
              <p:nvPr/>
            </p:nvSpPr>
            <p:spPr>
              <a:xfrm>
                <a:off x="6429375" y="3571875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Pacific</a:t>
                </a:r>
                <a:endParaRPr b="1" i="0" sz="11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34" name="Google Shape;534;p44"/>
              <p:cNvSpPr/>
              <p:nvPr/>
            </p:nvSpPr>
            <p:spPr>
              <a:xfrm>
                <a:off x="7429500" y="3571875"/>
                <a:ext cx="3619500" cy="238200"/>
              </a:xfrm>
              <a:prstGeom prst="rect">
                <a:avLst/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44"/>
              <p:cNvSpPr txBox="1"/>
              <p:nvPr/>
            </p:nvSpPr>
            <p:spPr>
              <a:xfrm>
                <a:off x="11144250" y="3571875"/>
                <a:ext cx="4764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[32.6%]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36" name="Google Shape;536;p44"/>
              <p:cNvSpPr txBox="1"/>
              <p:nvPr/>
            </p:nvSpPr>
            <p:spPr>
              <a:xfrm>
                <a:off x="6429375" y="400050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Atlantic</a:t>
                </a:r>
                <a:endParaRPr b="1" i="0" sz="11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37" name="Google Shape;537;p44"/>
              <p:cNvSpPr/>
              <p:nvPr/>
            </p:nvSpPr>
            <p:spPr>
              <a:xfrm>
                <a:off x="7429500" y="4000500"/>
                <a:ext cx="2667000" cy="238200"/>
              </a:xfrm>
              <a:prstGeom prst="rect">
                <a:avLst/>
              </a:prstGeom>
              <a:solidFill>
                <a:srgbClr val="348E90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44"/>
              <p:cNvSpPr txBox="1"/>
              <p:nvPr/>
            </p:nvSpPr>
            <p:spPr>
              <a:xfrm>
                <a:off x="10191750" y="40005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[29%]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39" name="Google Shape;539;p44"/>
              <p:cNvSpPr txBox="1"/>
              <p:nvPr/>
            </p:nvSpPr>
            <p:spPr>
              <a:xfrm>
                <a:off x="6429375" y="4429125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Interior</a:t>
                </a:r>
                <a:endParaRPr b="1" i="0" sz="11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40" name="Google Shape;540;p44"/>
              <p:cNvSpPr/>
              <p:nvPr/>
            </p:nvSpPr>
            <p:spPr>
              <a:xfrm>
                <a:off x="7429500" y="4429125"/>
                <a:ext cx="1809600" cy="238200"/>
              </a:xfrm>
              <a:prstGeom prst="rect">
                <a:avLst/>
              </a:prstGeom>
              <a:solidFill>
                <a:srgbClr val="348E90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44"/>
              <p:cNvSpPr txBox="1"/>
              <p:nvPr/>
            </p:nvSpPr>
            <p:spPr>
              <a:xfrm>
                <a:off x="9334500" y="4429125"/>
                <a:ext cx="5664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[22.6%]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42" name="Google Shape;542;p44"/>
              <p:cNvSpPr txBox="1"/>
              <p:nvPr/>
            </p:nvSpPr>
            <p:spPr>
              <a:xfrm>
                <a:off x="6429375" y="485775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444444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Gulf</a:t>
                </a:r>
                <a:endParaRPr b="1" i="0" sz="11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43" name="Google Shape;543;p44"/>
              <p:cNvSpPr/>
              <p:nvPr/>
            </p:nvSpPr>
            <p:spPr>
              <a:xfrm>
                <a:off x="7429500" y="4857750"/>
                <a:ext cx="1047900" cy="2382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44"/>
              <p:cNvSpPr txBox="1"/>
              <p:nvPr/>
            </p:nvSpPr>
            <p:spPr>
              <a:xfrm>
                <a:off x="8572500" y="4857750"/>
                <a:ext cx="666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[15.6%]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sp>
          <p:nvSpPr>
            <p:cNvPr id="545" name="Google Shape;545;p44"/>
            <p:cNvSpPr txBox="1"/>
            <p:nvPr/>
          </p:nvSpPr>
          <p:spPr>
            <a:xfrm>
              <a:off x="6429375" y="53340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1" lang="en-IN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Revenue share by region: Pacific 36.2% | Atlantic 28.1% | Interior 20.1% | Gulf 15.6%. Gulf is flagged as primary growth opportunity.</a:t>
              </a:r>
              <a:endParaRPr b="0" i="1" sz="10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546" name="Google Shape;546;p44"/>
          <p:cNvGrpSpPr/>
          <p:nvPr/>
        </p:nvGrpSpPr>
        <p:grpSpPr>
          <a:xfrm>
            <a:off x="571500" y="6048375"/>
            <a:ext cx="11049000" cy="571500"/>
            <a:chOff x="571500" y="6048375"/>
            <a:chExt cx="11049000" cy="571500"/>
          </a:xfrm>
        </p:grpSpPr>
        <p:sp>
          <p:nvSpPr>
            <p:cNvPr id="547" name="Google Shape;547;p44"/>
            <p:cNvSpPr/>
            <p:nvPr/>
          </p:nvSpPr>
          <p:spPr>
            <a:xfrm>
              <a:off x="571500" y="6048375"/>
              <a:ext cx="11049000" cy="5715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4"/>
            <p:cNvSpPr txBox="1"/>
            <p:nvPr/>
          </p:nvSpPr>
          <p:spPr>
            <a:xfrm>
              <a:off x="762000" y="6048375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Top customers by division drive disproportionate profit — wholesale loyalty incentives recommended for high-value accounts.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5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5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Sales &amp; Revenue Analysis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61" name="Google Shape;561;p45"/>
          <p:cNvGrpSpPr/>
          <p:nvPr/>
        </p:nvGrpSpPr>
        <p:grpSpPr>
          <a:xfrm>
            <a:off x="571500" y="1428750"/>
            <a:ext cx="11048925" cy="1047900"/>
            <a:chOff x="571500" y="1428750"/>
            <a:chExt cx="11048925" cy="1047900"/>
          </a:xfrm>
        </p:grpSpPr>
        <p:sp>
          <p:nvSpPr>
            <p:cNvPr id="562" name="Google Shape;562;p45"/>
            <p:cNvSpPr/>
            <p:nvPr/>
          </p:nvSpPr>
          <p:spPr>
            <a:xfrm>
              <a:off x="571500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5"/>
            <p:cNvSpPr txBox="1"/>
            <p:nvPr/>
          </p:nvSpPr>
          <p:spPr>
            <a:xfrm>
              <a:off x="571500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$138,284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Total Revenue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564" name="Google Shape;564;p45"/>
            <p:cNvSpPr/>
            <p:nvPr/>
          </p:nvSpPr>
          <p:spPr>
            <a:xfrm>
              <a:off x="3381375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5"/>
            <p:cNvSpPr txBox="1"/>
            <p:nvPr/>
          </p:nvSpPr>
          <p:spPr>
            <a:xfrm>
              <a:off x="3381375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8,549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Total Orders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566" name="Google Shape;566;p45"/>
            <p:cNvSpPr/>
            <p:nvPr/>
          </p:nvSpPr>
          <p:spPr>
            <a:xfrm>
              <a:off x="6191250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5"/>
            <p:cNvSpPr txBox="1"/>
            <p:nvPr/>
          </p:nvSpPr>
          <p:spPr>
            <a:xfrm>
              <a:off x="6191250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$16.17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Avg Order Value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568" name="Google Shape;568;p45"/>
            <p:cNvSpPr/>
            <p:nvPr/>
          </p:nvSpPr>
          <p:spPr>
            <a:xfrm>
              <a:off x="9001125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5"/>
            <p:cNvSpPr txBox="1"/>
            <p:nvPr/>
          </p:nvSpPr>
          <p:spPr>
            <a:xfrm>
              <a:off x="9001125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~27%</a:t>
              </a:r>
              <a:endParaRPr b="1" i="0" sz="3200" u="none" cap="none" strike="noStrike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YoY Growth (23-24)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</p:grpSp>
      <p:grpSp>
        <p:nvGrpSpPr>
          <p:cNvPr id="570" name="Google Shape;570;p45"/>
          <p:cNvGrpSpPr/>
          <p:nvPr/>
        </p:nvGrpSpPr>
        <p:grpSpPr>
          <a:xfrm>
            <a:off x="571500" y="2667000"/>
            <a:ext cx="5429400" cy="3238500"/>
            <a:chOff x="571500" y="2667000"/>
            <a:chExt cx="5429400" cy="3238500"/>
          </a:xfrm>
        </p:grpSpPr>
        <p:sp>
          <p:nvSpPr>
            <p:cNvPr id="571" name="Google Shape;571;p45"/>
            <p:cNvSpPr/>
            <p:nvPr/>
          </p:nvSpPr>
          <p:spPr>
            <a:xfrm>
              <a:off x="571500" y="2667000"/>
              <a:ext cx="5429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5"/>
            <p:cNvSpPr txBox="1"/>
            <p:nvPr/>
          </p:nvSpPr>
          <p:spPr>
            <a:xfrm>
              <a:off x="809625" y="28575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Monthly Sales Trend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pic>
          <p:nvPicPr>
            <p:cNvPr id="573" name="Google Shape;573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7738" y="3609975"/>
              <a:ext cx="4200600" cy="173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2975" y="2938463"/>
              <a:ext cx="4210200" cy="221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5"/>
            <p:cNvSpPr/>
            <p:nvPr/>
          </p:nvSpPr>
          <p:spPr>
            <a:xfrm>
              <a:off x="4191000" y="3048000"/>
              <a:ext cx="1524000" cy="952500"/>
            </a:xfrm>
            <a:prstGeom prst="roundRect">
              <a:avLst>
                <a:gd fmla="val 8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5"/>
            <p:cNvSpPr txBox="1"/>
            <p:nvPr/>
          </p:nvSpPr>
          <p:spPr>
            <a:xfrm>
              <a:off x="4286250" y="31432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IN" sz="95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Q4 (Oct–Dec) is consistently the peak window — holiday-driven demand confirmed.</a:t>
              </a:r>
              <a:endParaRPr b="1" i="0" sz="95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77" name="Google Shape;577;p45"/>
          <p:cNvGrpSpPr/>
          <p:nvPr/>
        </p:nvGrpSpPr>
        <p:grpSpPr>
          <a:xfrm>
            <a:off x="6191250" y="2667000"/>
            <a:ext cx="5429400" cy="1524000"/>
            <a:chOff x="6191250" y="2667000"/>
            <a:chExt cx="5429400" cy="1524000"/>
          </a:xfrm>
        </p:grpSpPr>
        <p:sp>
          <p:nvSpPr>
            <p:cNvPr id="578" name="Google Shape;578;p45"/>
            <p:cNvSpPr/>
            <p:nvPr/>
          </p:nvSpPr>
          <p:spPr>
            <a:xfrm>
              <a:off x="6191250" y="2667000"/>
              <a:ext cx="54294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5"/>
            <p:cNvSpPr txBox="1"/>
            <p:nvPr/>
          </p:nvSpPr>
          <p:spPr>
            <a:xfrm>
              <a:off x="6429375" y="280987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Revenue by Division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0" name="Google Shape;580;p45"/>
            <p:cNvSpPr/>
            <p:nvPr/>
          </p:nvSpPr>
          <p:spPr>
            <a:xfrm>
              <a:off x="9715500" y="2857500"/>
              <a:ext cx="1143000" cy="1143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1" name="Google Shape;581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20250" y="2762250"/>
              <a:ext cx="13335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5"/>
            <p:cNvSpPr txBox="1"/>
            <p:nvPr/>
          </p:nvSpPr>
          <p:spPr>
            <a:xfrm>
              <a:off x="6429375" y="3143250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IN" sz="105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Chocolate: 93% of revenue</a:t>
              </a:r>
              <a:endParaRPr b="0" i="0" sz="105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IN" sz="105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Other &lt;7% share</a:t>
              </a:r>
              <a:endParaRPr b="0" i="0" sz="105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IN" sz="105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• Sugar: &lt;1% share</a:t>
              </a:r>
              <a:endParaRPr b="0" i="0" sz="105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IN" sz="105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Chocolate division is the revenue backbone of Sugar Wagon Inc.</a:t>
              </a:r>
              <a:endParaRPr b="1" i="0" sz="105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583" name="Google Shape;583;p45"/>
          <p:cNvGrpSpPr/>
          <p:nvPr/>
        </p:nvGrpSpPr>
        <p:grpSpPr>
          <a:xfrm>
            <a:off x="6191250" y="4381500"/>
            <a:ext cx="5429400" cy="1524000"/>
            <a:chOff x="6191250" y="4381500"/>
            <a:chExt cx="5429400" cy="1524000"/>
          </a:xfrm>
        </p:grpSpPr>
        <p:sp>
          <p:nvSpPr>
            <p:cNvPr id="584" name="Google Shape;584;p45"/>
            <p:cNvSpPr/>
            <p:nvPr/>
          </p:nvSpPr>
          <p:spPr>
            <a:xfrm>
              <a:off x="6191250" y="4381500"/>
              <a:ext cx="54294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5"/>
            <p:cNvSpPr/>
            <p:nvPr/>
          </p:nvSpPr>
          <p:spPr>
            <a:xfrm>
              <a:off x="6191250" y="4381500"/>
              <a:ext cx="5429400" cy="333300"/>
            </a:xfrm>
            <a:prstGeom prst="roundRect">
              <a:avLst>
                <a:gd fmla="val 34285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5"/>
            <p:cNvSpPr/>
            <p:nvPr/>
          </p:nvSpPr>
          <p:spPr>
            <a:xfrm>
              <a:off x="6191250" y="4619625"/>
              <a:ext cx="5429400" cy="95400"/>
            </a:xfrm>
            <a:prstGeom prst="rect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5"/>
            <p:cNvSpPr txBox="1"/>
            <p:nvPr/>
          </p:nvSpPr>
          <p:spPr>
            <a:xfrm>
              <a:off x="6381750" y="438150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Division</a:t>
              </a:r>
              <a:endParaRPr b="1" i="0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8" name="Google Shape;588;p45"/>
            <p:cNvSpPr txBox="1"/>
            <p:nvPr/>
          </p:nvSpPr>
          <p:spPr>
            <a:xfrm>
              <a:off x="7524750" y="438150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Total Sales</a:t>
              </a:r>
              <a:endParaRPr b="1" i="0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89" name="Google Shape;589;p45"/>
            <p:cNvSpPr txBox="1"/>
            <p:nvPr/>
          </p:nvSpPr>
          <p:spPr>
            <a:xfrm>
              <a:off x="8667750" y="438150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Target</a:t>
              </a:r>
              <a:endParaRPr b="1" i="0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90" name="Google Shape;590;p45"/>
            <p:cNvSpPr txBox="1"/>
            <p:nvPr/>
          </p:nvSpPr>
          <p:spPr>
            <a:xfrm>
              <a:off x="9810750" y="438150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Achieve %</a:t>
              </a:r>
              <a:endParaRPr b="1" i="0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591" name="Google Shape;591;p45"/>
            <p:cNvGrpSpPr/>
            <p:nvPr/>
          </p:nvGrpSpPr>
          <p:grpSpPr>
            <a:xfrm>
              <a:off x="6381750" y="4762500"/>
              <a:ext cx="4286400" cy="238200"/>
              <a:chOff x="0" y="0"/>
              <a:chExt cx="4286400" cy="238200"/>
            </a:xfrm>
          </p:grpSpPr>
          <p:sp>
            <p:nvSpPr>
              <p:cNvPr id="592" name="Google Shape;592;p45"/>
              <p:cNvSpPr txBox="1"/>
              <p:nvPr/>
            </p:nvSpPr>
            <p:spPr>
              <a:xfrm>
                <a:off x="0" y="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Chocolate</a:t>
                </a:r>
                <a:endParaRPr b="0" i="0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93" name="Google Shape;593;p45"/>
              <p:cNvSpPr txBox="1"/>
              <p:nvPr/>
            </p:nvSpPr>
            <p:spPr>
              <a:xfrm>
                <a:off x="1143000" y="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$128.2K</a:t>
                </a:r>
                <a:endParaRPr b="0" i="0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94" name="Google Shape;594;p45"/>
              <p:cNvSpPr txBox="1"/>
              <p:nvPr/>
            </p:nvSpPr>
            <p:spPr>
              <a:xfrm>
                <a:off x="2286000" y="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$27K</a:t>
                </a:r>
                <a:endParaRPr b="0" i="0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595" name="Google Shape;595;p45"/>
              <p:cNvSpPr/>
              <p:nvPr/>
            </p:nvSpPr>
            <p:spPr>
              <a:xfrm>
                <a:off x="3619500" y="0"/>
                <a:ext cx="6669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45"/>
              <p:cNvSpPr txBox="1"/>
              <p:nvPr/>
            </p:nvSpPr>
            <p:spPr>
              <a:xfrm>
                <a:off x="3619500" y="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475%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cxnSp>
          <p:nvCxnSpPr>
            <p:cNvPr id="597" name="Google Shape;597;p45"/>
            <p:cNvCxnSpPr/>
            <p:nvPr/>
          </p:nvCxnSpPr>
          <p:spPr>
            <a:xfrm>
              <a:off x="6381750" y="5029200"/>
              <a:ext cx="5048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8" name="Google Shape;598;p45"/>
            <p:cNvGrpSpPr/>
            <p:nvPr/>
          </p:nvGrpSpPr>
          <p:grpSpPr>
            <a:xfrm>
              <a:off x="6381750" y="5095875"/>
              <a:ext cx="4286400" cy="238200"/>
              <a:chOff x="0" y="0"/>
              <a:chExt cx="4286400" cy="238200"/>
            </a:xfrm>
          </p:grpSpPr>
          <p:sp>
            <p:nvSpPr>
              <p:cNvPr id="599" name="Google Shape;599;p45"/>
              <p:cNvSpPr txBox="1"/>
              <p:nvPr/>
            </p:nvSpPr>
            <p:spPr>
              <a:xfrm>
                <a:off x="0" y="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Sugar/Other</a:t>
                </a:r>
                <a:endParaRPr b="0" i="0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600" name="Google Shape;600;p45"/>
              <p:cNvSpPr txBox="1"/>
              <p:nvPr/>
            </p:nvSpPr>
            <p:spPr>
              <a:xfrm>
                <a:off x="1143000" y="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$10,1K</a:t>
                </a:r>
                <a:endParaRPr b="0" i="0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601" name="Google Shape;601;p45"/>
              <p:cNvSpPr txBox="1"/>
              <p:nvPr/>
            </p:nvSpPr>
            <p:spPr>
              <a:xfrm>
                <a:off x="2286000" y="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444444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$18K</a:t>
                </a:r>
                <a:endParaRPr b="0" i="0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  <p:sp>
            <p:nvSpPr>
              <p:cNvPr id="602" name="Google Shape;602;p45"/>
              <p:cNvSpPr/>
              <p:nvPr/>
            </p:nvSpPr>
            <p:spPr>
              <a:xfrm>
                <a:off x="3619500" y="0"/>
                <a:ext cx="6669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45"/>
              <p:cNvSpPr txBox="1"/>
              <p:nvPr/>
            </p:nvSpPr>
            <p:spPr>
              <a:xfrm>
                <a:off x="3619500" y="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325%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604" name="Google Shape;604;p45"/>
            <p:cNvSpPr txBox="1"/>
            <p:nvPr/>
          </p:nvSpPr>
          <p:spPr>
            <a:xfrm>
              <a:off x="6381750" y="5572125"/>
              <a:ext cx="504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1" lang="en-IN" sz="105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All divisions exceeded target — overall achievement 3.15x target.</a:t>
              </a:r>
              <a:endParaRPr b="0" i="1" sz="105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sp>
        <p:nvSpPr>
          <p:cNvPr id="605" name="Google Shape;605;p45"/>
          <p:cNvSpPr/>
          <p:nvPr/>
        </p:nvSpPr>
        <p:spPr>
          <a:xfrm>
            <a:off x="571500" y="6096000"/>
            <a:ext cx="11049000" cy="476400"/>
          </a:xfrm>
          <a:prstGeom prst="roundRect">
            <a:avLst>
              <a:gd fmla="val 24000" name="adj"/>
            </a:avLst>
          </a:prstGeom>
          <a:solidFill>
            <a:srgbClr val="F0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5"/>
          <p:cNvSpPr txBox="1"/>
          <p:nvPr/>
        </p:nvSpPr>
        <p:spPr>
          <a:xfrm>
            <a:off x="762000" y="609600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Pacific leads regional revenue. Gulf is the lowest-performing region and represents the primary expansion opportunity.</a:t>
            </a:r>
            <a:endParaRPr b="1" i="0" sz="11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6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6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6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Historical Sales Performance &amp; Seasonality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619" name="Google Shape;619;p46"/>
          <p:cNvGrpSpPr/>
          <p:nvPr/>
        </p:nvGrpSpPr>
        <p:grpSpPr>
          <a:xfrm>
            <a:off x="571500" y="1714500"/>
            <a:ext cx="5238900" cy="1428900"/>
            <a:chOff x="571500" y="1714500"/>
            <a:chExt cx="5238900" cy="1428900"/>
          </a:xfrm>
        </p:grpSpPr>
        <p:sp>
          <p:nvSpPr>
            <p:cNvPr id="620" name="Google Shape;620;p46"/>
            <p:cNvSpPr/>
            <p:nvPr/>
          </p:nvSpPr>
          <p:spPr>
            <a:xfrm>
              <a:off x="571500" y="1714500"/>
              <a:ext cx="5238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6"/>
            <p:cNvSpPr txBox="1"/>
            <p:nvPr/>
          </p:nvSpPr>
          <p:spPr>
            <a:xfrm>
              <a:off x="762000" y="1905000"/>
              <a:ext cx="485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5"/>
                <a:buFont typeface="Arial"/>
                <a:buNone/>
              </a:pPr>
              <a:r>
                <a:rPr b="1" i="0" lang="en-IN" sz="1105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Growth Velocity</a:t>
              </a:r>
              <a:endParaRPr b="1" i="0" sz="1105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en-IN" sz="935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Year-over-Year (YoY) performance analysis reveals a robust growth trajectory for the 2023–2024 period.</a:t>
              </a:r>
              <a:endParaRPr b="0" i="0" sz="935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2040"/>
                <a:buFont typeface="Arial"/>
                <a:buNone/>
              </a:pPr>
              <a:r>
                <a:rPr b="1" i="0" lang="en-IN" sz="2040" u="none" cap="none" strike="noStrike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~27% YoY Growth</a:t>
              </a:r>
              <a:endParaRPr b="0" i="0" sz="935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622" name="Google Shape;622;p46"/>
          <p:cNvGrpSpPr/>
          <p:nvPr/>
        </p:nvGrpSpPr>
        <p:grpSpPr>
          <a:xfrm>
            <a:off x="571500" y="3333750"/>
            <a:ext cx="5238900" cy="2952900"/>
            <a:chOff x="571500" y="3333750"/>
            <a:chExt cx="5238900" cy="2952900"/>
          </a:xfrm>
        </p:grpSpPr>
        <p:sp>
          <p:nvSpPr>
            <p:cNvPr id="623" name="Google Shape;623;p46"/>
            <p:cNvSpPr/>
            <p:nvPr/>
          </p:nvSpPr>
          <p:spPr>
            <a:xfrm>
              <a:off x="571500" y="3333750"/>
              <a:ext cx="5238900" cy="2952900"/>
            </a:xfrm>
            <a:prstGeom prst="roundRect">
              <a:avLst>
                <a:gd fmla="val 387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6"/>
            <p:cNvSpPr txBox="1"/>
            <p:nvPr/>
          </p:nvSpPr>
          <p:spPr>
            <a:xfrm>
              <a:off x="762000" y="352425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Seasonality Insights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25" name="Google Shape;625;p46"/>
            <p:cNvSpPr txBox="1"/>
            <p:nvPr/>
          </p:nvSpPr>
          <p:spPr>
            <a:xfrm>
              <a:off x="762000" y="4000500"/>
              <a:ext cx="4857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en-IN" sz="935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Historical tracking confirms that </a:t>
              </a:r>
              <a:r>
                <a:rPr b="1" i="0" lang="en-IN" sz="935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Q4 (October to December)</a:t>
              </a:r>
              <a:r>
                <a:rPr b="0" i="0" lang="en-IN" sz="935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consistently represents the peak sales window.</a:t>
              </a:r>
              <a:endParaRPr b="0" i="0" sz="935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en-IN" sz="935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Driven largely by holiday demand across candy divisions, this period accounts for the highest volume of annual transactions.</a:t>
              </a:r>
              <a:endParaRPr b="0" i="0" sz="935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762000" y="5238750"/>
              <a:ext cx="4857900" cy="762000"/>
            </a:xfrm>
            <a:prstGeom prst="roundRect">
              <a:avLst>
                <a:gd fmla="val 1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6"/>
            <p:cNvSpPr txBox="1"/>
            <p:nvPr/>
          </p:nvSpPr>
          <p:spPr>
            <a:xfrm>
              <a:off x="1238250" y="5238750"/>
              <a:ext cx="419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1" i="0" lang="en-IN" sz="935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Business Note:</a:t>
              </a:r>
              <a:endParaRPr b="1" i="0" sz="935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en-IN" sz="935" u="none" cap="none" strike="noStrike">
                  <a:solidFill>
                    <a:srgbClr val="348E90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Inventory replenishment and supply chain logistics must be prioritized during </a:t>
              </a:r>
              <a:r>
                <a:rPr b="1" i="0" lang="en-IN" sz="935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Q3</a:t>
              </a:r>
              <a:r>
                <a:rPr b="0" i="0" lang="en-IN" sz="935" u="none" cap="none" strike="noStrike">
                  <a:solidFill>
                    <a:srgbClr val="348E90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to ensure stock availability for the Q4 surge.</a:t>
              </a:r>
              <a:endParaRPr b="0" i="0" sz="935" u="none" cap="none" strike="noStrike">
                <a:solidFill>
                  <a:srgbClr val="348E90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628" name="Google Shape;628;p46"/>
            <p:cNvSpPr txBox="1"/>
            <p:nvPr/>
          </p:nvSpPr>
          <p:spPr>
            <a:xfrm>
              <a:off x="857250" y="54870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50"/>
                <a:buFont typeface="Arial"/>
                <a:buNone/>
              </a:pPr>
              <a:r>
                <a:t/>
              </a:r>
              <a:endParaRPr b="0" i="0" sz="185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</p:grpSp>
      <p:grpSp>
        <p:nvGrpSpPr>
          <p:cNvPr id="629" name="Google Shape;629;p46"/>
          <p:cNvGrpSpPr/>
          <p:nvPr/>
        </p:nvGrpSpPr>
        <p:grpSpPr>
          <a:xfrm>
            <a:off x="6191250" y="1714500"/>
            <a:ext cx="5429400" cy="4572000"/>
            <a:chOff x="6191250" y="1714500"/>
            <a:chExt cx="5429400" cy="4572000"/>
          </a:xfrm>
        </p:grpSpPr>
        <p:sp>
          <p:nvSpPr>
            <p:cNvPr id="630" name="Google Shape;630;p46"/>
            <p:cNvSpPr/>
            <p:nvPr/>
          </p:nvSpPr>
          <p:spPr>
            <a:xfrm>
              <a:off x="6191250" y="1714500"/>
              <a:ext cx="5429400" cy="4572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6"/>
            <p:cNvSpPr txBox="1"/>
            <p:nvPr/>
          </p:nvSpPr>
          <p:spPr>
            <a:xfrm>
              <a:off x="6381750" y="1905000"/>
              <a:ext cx="504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Monthly Sales Trend Analysis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32" name="Google Shape;632;p46"/>
            <p:cNvSpPr txBox="1"/>
            <p:nvPr/>
          </p:nvSpPr>
          <p:spPr>
            <a:xfrm>
              <a:off x="10953750" y="5619750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pic>
        <p:nvPicPr>
          <p:cNvPr id="633" name="Google Shape;633;p46" title="Screenshot 2026-05-19 at 6.00.29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2354200"/>
            <a:ext cx="5526277" cy="42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7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7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Performance Analysis — Targets vs Actuals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646" name="Google Shape;646;p47"/>
          <p:cNvGrpSpPr/>
          <p:nvPr/>
        </p:nvGrpSpPr>
        <p:grpSpPr>
          <a:xfrm>
            <a:off x="571500" y="1428750"/>
            <a:ext cx="11039550" cy="1047900"/>
            <a:chOff x="571500" y="1428750"/>
            <a:chExt cx="11039550" cy="1047900"/>
          </a:xfrm>
        </p:grpSpPr>
        <p:sp>
          <p:nvSpPr>
            <p:cNvPr id="647" name="Google Shape;647;p47"/>
            <p:cNvSpPr/>
            <p:nvPr/>
          </p:nvSpPr>
          <p:spPr>
            <a:xfrm>
              <a:off x="571500" y="1428750"/>
              <a:ext cx="3552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7"/>
            <p:cNvSpPr txBox="1"/>
            <p:nvPr/>
          </p:nvSpPr>
          <p:spPr>
            <a:xfrm>
              <a:off x="571500" y="1428750"/>
              <a:ext cx="35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3.15x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Overall Target Achievement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649" name="Google Shape;649;p47"/>
            <p:cNvSpPr/>
            <p:nvPr/>
          </p:nvSpPr>
          <p:spPr>
            <a:xfrm>
              <a:off x="4314825" y="1428750"/>
              <a:ext cx="3552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7"/>
            <p:cNvSpPr txBox="1"/>
            <p:nvPr/>
          </p:nvSpPr>
          <p:spPr>
            <a:xfrm>
              <a:off x="4314825" y="1428750"/>
              <a:ext cx="35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IN" sz="2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Chocolate</a:t>
              </a:r>
              <a:endParaRPr b="1" i="0" sz="2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Best Performing Division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651" name="Google Shape;651;p47"/>
            <p:cNvSpPr/>
            <p:nvPr/>
          </p:nvSpPr>
          <p:spPr>
            <a:xfrm>
              <a:off x="8058150" y="1428750"/>
              <a:ext cx="3552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7"/>
            <p:cNvSpPr txBox="1"/>
            <p:nvPr/>
          </p:nvSpPr>
          <p:spPr>
            <a:xfrm>
              <a:off x="8058150" y="1428750"/>
              <a:ext cx="35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~27%</a:t>
              </a:r>
              <a:endParaRPr b="1" i="0" sz="3200" u="none" cap="none" strike="noStrike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Growth Rate (YoY)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</p:grpSp>
      <p:grpSp>
        <p:nvGrpSpPr>
          <p:cNvPr id="653" name="Google Shape;653;p47"/>
          <p:cNvGrpSpPr/>
          <p:nvPr/>
        </p:nvGrpSpPr>
        <p:grpSpPr>
          <a:xfrm>
            <a:off x="6191250" y="2667000"/>
            <a:ext cx="5429400" cy="3238500"/>
            <a:chOff x="6191250" y="2667000"/>
            <a:chExt cx="5429400" cy="3238500"/>
          </a:xfrm>
        </p:grpSpPr>
        <p:sp>
          <p:nvSpPr>
            <p:cNvPr id="654" name="Google Shape;654;p47"/>
            <p:cNvSpPr/>
            <p:nvPr/>
          </p:nvSpPr>
          <p:spPr>
            <a:xfrm>
              <a:off x="6191250" y="2667000"/>
              <a:ext cx="5429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7"/>
            <p:cNvSpPr txBox="1"/>
            <p:nvPr/>
          </p:nvSpPr>
          <p:spPr>
            <a:xfrm>
              <a:off x="6429375" y="28575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Regional Performance Ranking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56" name="Google Shape;656;p47"/>
            <p:cNvGrpSpPr/>
            <p:nvPr/>
          </p:nvGrpSpPr>
          <p:grpSpPr>
            <a:xfrm>
              <a:off x="6429375" y="3286125"/>
              <a:ext cx="4953000" cy="523800"/>
              <a:chOff x="6429375" y="3286125"/>
              <a:chExt cx="4953000" cy="523800"/>
            </a:xfrm>
          </p:grpSpPr>
          <p:sp>
            <p:nvSpPr>
              <p:cNvPr id="657" name="Google Shape;657;p47"/>
              <p:cNvSpPr/>
              <p:nvPr/>
            </p:nvSpPr>
            <p:spPr>
              <a:xfrm>
                <a:off x="6429375" y="3286125"/>
                <a:ext cx="49530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0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47"/>
              <p:cNvSpPr/>
              <p:nvPr/>
            </p:nvSpPr>
            <p:spPr>
              <a:xfrm>
                <a:off x="6572250" y="3405188"/>
                <a:ext cx="285900" cy="285900"/>
              </a:xfrm>
              <a:prstGeom prst="ellipse">
                <a:avLst/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47"/>
              <p:cNvSpPr txBox="1"/>
              <p:nvPr/>
            </p:nvSpPr>
            <p:spPr>
              <a:xfrm>
                <a:off x="6572250" y="3405188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660" name="Google Shape;660;p47"/>
              <p:cNvSpPr txBox="1"/>
              <p:nvPr/>
            </p:nvSpPr>
            <p:spPr>
              <a:xfrm>
                <a:off x="7000875" y="3286125"/>
                <a:ext cx="4191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Pacific 🏆</a:t>
                </a:r>
                <a:endParaRPr b="1" i="0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Sales Leader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661" name="Google Shape;661;p47"/>
            <p:cNvGrpSpPr/>
            <p:nvPr/>
          </p:nvGrpSpPr>
          <p:grpSpPr>
            <a:xfrm>
              <a:off x="6429375" y="3905250"/>
              <a:ext cx="4953000" cy="523800"/>
              <a:chOff x="6429375" y="3905250"/>
              <a:chExt cx="4953000" cy="523800"/>
            </a:xfrm>
          </p:grpSpPr>
          <p:sp>
            <p:nvSpPr>
              <p:cNvPr id="662" name="Google Shape;662;p47"/>
              <p:cNvSpPr/>
              <p:nvPr/>
            </p:nvSpPr>
            <p:spPr>
              <a:xfrm>
                <a:off x="6429375" y="3905250"/>
                <a:ext cx="49530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47"/>
              <p:cNvSpPr/>
              <p:nvPr/>
            </p:nvSpPr>
            <p:spPr>
              <a:xfrm>
                <a:off x="6572250" y="4024313"/>
                <a:ext cx="285900" cy="285900"/>
              </a:xfrm>
              <a:prstGeom prst="ellipse">
                <a:avLst/>
              </a:prstGeom>
              <a:solidFill>
                <a:srgbClr val="348E90">
                  <a:alpha val="5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47"/>
              <p:cNvSpPr txBox="1"/>
              <p:nvPr/>
            </p:nvSpPr>
            <p:spPr>
              <a:xfrm>
                <a:off x="6572250" y="4024313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665" name="Google Shape;665;p47"/>
              <p:cNvSpPr txBox="1"/>
              <p:nvPr/>
            </p:nvSpPr>
            <p:spPr>
              <a:xfrm>
                <a:off x="7000875" y="3905250"/>
                <a:ext cx="4191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Atlantic</a:t>
                </a:r>
                <a:endParaRPr b="1" i="0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Consistent Performer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666" name="Google Shape;666;p47"/>
            <p:cNvGrpSpPr/>
            <p:nvPr/>
          </p:nvGrpSpPr>
          <p:grpSpPr>
            <a:xfrm>
              <a:off x="6429375" y="4524375"/>
              <a:ext cx="4953000" cy="523800"/>
              <a:chOff x="6429375" y="4524375"/>
              <a:chExt cx="4953000" cy="523800"/>
            </a:xfrm>
          </p:grpSpPr>
          <p:sp>
            <p:nvSpPr>
              <p:cNvPr id="667" name="Google Shape;667;p47"/>
              <p:cNvSpPr/>
              <p:nvPr/>
            </p:nvSpPr>
            <p:spPr>
              <a:xfrm>
                <a:off x="6429375" y="4524375"/>
                <a:ext cx="49530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47"/>
              <p:cNvSpPr/>
              <p:nvPr/>
            </p:nvSpPr>
            <p:spPr>
              <a:xfrm>
                <a:off x="6572250" y="4643438"/>
                <a:ext cx="285900" cy="285900"/>
              </a:xfrm>
              <a:prstGeom prst="ellipse">
                <a:avLst/>
              </a:prstGeom>
              <a:solidFill>
                <a:srgbClr val="348E90">
                  <a:alpha val="3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47"/>
              <p:cNvSpPr txBox="1"/>
              <p:nvPr/>
            </p:nvSpPr>
            <p:spPr>
              <a:xfrm>
                <a:off x="6572250" y="4643438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670" name="Google Shape;670;p47"/>
              <p:cNvSpPr txBox="1"/>
              <p:nvPr/>
            </p:nvSpPr>
            <p:spPr>
              <a:xfrm>
                <a:off x="7000875" y="4524375"/>
                <a:ext cx="4191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Interior</a:t>
                </a:r>
                <a:endParaRPr b="1" i="0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Market Stable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671" name="Google Shape;671;p47"/>
            <p:cNvGrpSpPr/>
            <p:nvPr/>
          </p:nvGrpSpPr>
          <p:grpSpPr>
            <a:xfrm>
              <a:off x="6429375" y="5143500"/>
              <a:ext cx="4953000" cy="523800"/>
              <a:chOff x="6429375" y="5143500"/>
              <a:chExt cx="4953000" cy="523800"/>
            </a:xfrm>
          </p:grpSpPr>
          <p:sp>
            <p:nvSpPr>
              <p:cNvPr id="672" name="Google Shape;672;p47"/>
              <p:cNvSpPr/>
              <p:nvPr/>
            </p:nvSpPr>
            <p:spPr>
              <a:xfrm>
                <a:off x="6429375" y="5143500"/>
                <a:ext cx="49530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47"/>
              <p:cNvSpPr/>
              <p:nvPr/>
            </p:nvSpPr>
            <p:spPr>
              <a:xfrm>
                <a:off x="6572250" y="5262563"/>
                <a:ext cx="285900" cy="285900"/>
              </a:xfrm>
              <a:prstGeom prst="ellipse">
                <a:avLst/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47"/>
              <p:cNvSpPr txBox="1"/>
              <p:nvPr/>
            </p:nvSpPr>
            <p:spPr>
              <a:xfrm>
                <a:off x="6572250" y="5262563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IN" sz="1000" u="none" cap="none" strike="noStrike">
                    <a:solidFill>
                      <a:srgbClr val="FFFFFF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4</a:t>
                </a:r>
                <a:endParaRPr b="1" i="0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675" name="Google Shape;675;p47"/>
              <p:cNvSpPr txBox="1"/>
              <p:nvPr/>
            </p:nvSpPr>
            <p:spPr>
              <a:xfrm>
                <a:off x="7000875" y="5143500"/>
                <a:ext cx="4191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F59E0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Gulf ⚠️</a:t>
                </a:r>
                <a:endParaRPr b="1" i="0" sz="1100" u="none" cap="none" strike="noStrike">
                  <a:solidFill>
                    <a:srgbClr val="F59E0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Growth Opportunity — lowest revenue share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</p:grpSp>
      <p:grpSp>
        <p:nvGrpSpPr>
          <p:cNvPr id="676" name="Google Shape;676;p47"/>
          <p:cNvGrpSpPr/>
          <p:nvPr/>
        </p:nvGrpSpPr>
        <p:grpSpPr>
          <a:xfrm>
            <a:off x="571500" y="6096000"/>
            <a:ext cx="11049000" cy="571500"/>
            <a:chOff x="571500" y="6096000"/>
            <a:chExt cx="11049000" cy="571500"/>
          </a:xfrm>
        </p:grpSpPr>
        <p:sp>
          <p:nvSpPr>
            <p:cNvPr id="677" name="Google Shape;677;p47"/>
            <p:cNvSpPr/>
            <p:nvPr/>
          </p:nvSpPr>
          <p:spPr>
            <a:xfrm>
              <a:off x="571500" y="6096000"/>
              <a:ext cx="11049000" cy="5715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7"/>
            <p:cNvSpPr txBox="1"/>
            <p:nvPr/>
          </p:nvSpPr>
          <p:spPr>
            <a:xfrm>
              <a:off x="762000" y="6096000"/>
              <a:ext cx="333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Top Products by Units Sold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79" name="Google Shape;679;p47"/>
            <p:cNvSpPr/>
            <p:nvPr/>
          </p:nvSpPr>
          <p:spPr>
            <a:xfrm>
              <a:off x="4095750" y="6191250"/>
              <a:ext cx="2381400" cy="762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7"/>
            <p:cNvSpPr/>
            <p:nvPr/>
          </p:nvSpPr>
          <p:spPr>
            <a:xfrm>
              <a:off x="4095750" y="6286500"/>
              <a:ext cx="2095500" cy="76200"/>
            </a:xfrm>
            <a:prstGeom prst="roundRect">
              <a:avLst>
                <a:gd fmla="val 50000" name="adj"/>
              </a:avLst>
            </a:prstGeom>
            <a:solidFill>
              <a:srgbClr val="348E90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47"/>
            <p:cNvSpPr/>
            <p:nvPr/>
          </p:nvSpPr>
          <p:spPr>
            <a:xfrm>
              <a:off x="4095750" y="6381750"/>
              <a:ext cx="1809600" cy="76200"/>
            </a:xfrm>
            <a:prstGeom prst="roundRect">
              <a:avLst>
                <a:gd fmla="val 50000" name="adj"/>
              </a:avLst>
            </a:prstGeom>
            <a:solidFill>
              <a:srgbClr val="348E90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4095750" y="6477000"/>
              <a:ext cx="1524000" cy="76200"/>
            </a:xfrm>
            <a:prstGeom prst="roundRect">
              <a:avLst>
                <a:gd fmla="val 50000" name="adj"/>
              </a:avLst>
            </a:prstGeom>
            <a:solidFill>
              <a:srgbClr val="348E90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7"/>
            <p:cNvSpPr/>
            <p:nvPr/>
          </p:nvSpPr>
          <p:spPr>
            <a:xfrm>
              <a:off x="4095750" y="6572250"/>
              <a:ext cx="1238400" cy="76200"/>
            </a:xfrm>
            <a:prstGeom prst="roundRect">
              <a:avLst>
                <a:gd fmla="val 50000" name="adj"/>
              </a:avLst>
            </a:prstGeom>
            <a:solidFill>
              <a:srgbClr val="348E9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7"/>
            <p:cNvSpPr txBox="1"/>
            <p:nvPr/>
          </p:nvSpPr>
          <p:spPr>
            <a:xfrm>
              <a:off x="6667500" y="6096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Wonka Bar dominates unit volume — 39K+ units sold.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685" name="Google Shape;685;p47" title="Screenshot 2026-06-05 at 3.00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667075"/>
            <a:ext cx="5298150" cy="32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8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8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8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Market Concentration and Regional Analysis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698" name="Google Shape;698;p48"/>
          <p:cNvGrpSpPr/>
          <p:nvPr/>
        </p:nvGrpSpPr>
        <p:grpSpPr>
          <a:xfrm>
            <a:off x="571500" y="1714500"/>
            <a:ext cx="5238900" cy="2476500"/>
            <a:chOff x="571500" y="1714500"/>
            <a:chExt cx="5238900" cy="2476500"/>
          </a:xfrm>
        </p:grpSpPr>
        <p:sp>
          <p:nvSpPr>
            <p:cNvPr id="699" name="Google Shape;699;p48"/>
            <p:cNvSpPr/>
            <p:nvPr/>
          </p:nvSpPr>
          <p:spPr>
            <a:xfrm>
              <a:off x="571500" y="1714500"/>
              <a:ext cx="52389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8"/>
            <p:cNvSpPr txBox="1"/>
            <p:nvPr/>
          </p:nvSpPr>
          <p:spPr>
            <a:xfrm>
              <a:off x="762000" y="19050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Division Transaction Volume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1714500" y="2476500"/>
              <a:ext cx="3333900" cy="285900"/>
            </a:xfrm>
            <a:prstGeom prst="roundRect">
              <a:avLst>
                <a:gd fmla="val 13333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1714500" y="2476500"/>
              <a:ext cx="3200400" cy="285900"/>
            </a:xfrm>
            <a:prstGeom prst="roundRect">
              <a:avLst>
                <a:gd fmla="val 13333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8"/>
            <p:cNvSpPr txBox="1"/>
            <p:nvPr/>
          </p:nvSpPr>
          <p:spPr>
            <a:xfrm>
              <a:off x="762000" y="2476500"/>
              <a:ext cx="85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Chocolate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04" name="Google Shape;704;p48"/>
            <p:cNvSpPr txBox="1"/>
            <p:nvPr/>
          </p:nvSpPr>
          <p:spPr>
            <a:xfrm>
              <a:off x="1714500" y="2476500"/>
              <a:ext cx="3200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9</a:t>
              </a:r>
              <a:r>
                <a:rPr b="1" lang="en-IN" sz="10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2.7</a:t>
              </a: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%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05" name="Google Shape;705;p48"/>
            <p:cNvSpPr/>
            <p:nvPr/>
          </p:nvSpPr>
          <p:spPr>
            <a:xfrm>
              <a:off x="1714500" y="2905125"/>
              <a:ext cx="3333900" cy="142800"/>
            </a:xfrm>
            <a:prstGeom prst="roundRect">
              <a:avLst>
                <a:gd fmla="val 26666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8"/>
            <p:cNvSpPr/>
            <p:nvPr/>
          </p:nvSpPr>
          <p:spPr>
            <a:xfrm>
              <a:off x="1714500" y="2905125"/>
              <a:ext cx="133500" cy="142800"/>
            </a:xfrm>
            <a:prstGeom prst="roundRect">
              <a:avLst>
                <a:gd fmla="val 28571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8"/>
            <p:cNvSpPr txBox="1"/>
            <p:nvPr/>
          </p:nvSpPr>
          <p:spPr>
            <a:xfrm>
              <a:off x="762000" y="2905125"/>
              <a:ext cx="8574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IN" sz="9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Sugar/Other</a:t>
              </a:r>
              <a:endParaRPr b="0" i="0" sz="9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08" name="Google Shape;708;p48"/>
            <p:cNvSpPr txBox="1"/>
            <p:nvPr/>
          </p:nvSpPr>
          <p:spPr>
            <a:xfrm>
              <a:off x="762000" y="3238500"/>
              <a:ext cx="4857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The market is highly concentrated, with the </a:t>
              </a: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Chocolate division dominating 96%</a:t>
              </a: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of all transactional volume. Sugar and other niche products account for the remaining minority share, representing specialized market segments.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709" name="Google Shape;709;p48"/>
          <p:cNvGrpSpPr/>
          <p:nvPr/>
        </p:nvGrpSpPr>
        <p:grpSpPr>
          <a:xfrm>
            <a:off x="571500" y="4381500"/>
            <a:ext cx="5238900" cy="2476500"/>
            <a:chOff x="571500" y="4381500"/>
            <a:chExt cx="5238900" cy="2476500"/>
          </a:xfrm>
        </p:grpSpPr>
        <p:sp>
          <p:nvSpPr>
            <p:cNvPr id="710" name="Google Shape;710;p48"/>
            <p:cNvSpPr/>
            <p:nvPr/>
          </p:nvSpPr>
          <p:spPr>
            <a:xfrm>
              <a:off x="571500" y="4381500"/>
              <a:ext cx="52389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8"/>
            <p:cNvSpPr txBox="1"/>
            <p:nvPr/>
          </p:nvSpPr>
          <p:spPr>
            <a:xfrm>
              <a:off x="762000" y="45720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Regional Performance Insights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12" name="Google Shape;712;p48"/>
            <p:cNvSpPr/>
            <p:nvPr/>
          </p:nvSpPr>
          <p:spPr>
            <a:xfrm>
              <a:off x="762000" y="5095875"/>
              <a:ext cx="4857900" cy="571500"/>
            </a:xfrm>
            <a:prstGeom prst="roundRect">
              <a:avLst>
                <a:gd fmla="val 13333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8"/>
            <p:cNvSpPr txBox="1"/>
            <p:nvPr/>
          </p:nvSpPr>
          <p:spPr>
            <a:xfrm>
              <a:off x="857250" y="5130927"/>
              <a:ext cx="38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14" name="Google Shape;714;p48"/>
            <p:cNvSpPr txBox="1"/>
            <p:nvPr/>
          </p:nvSpPr>
          <p:spPr>
            <a:xfrm>
              <a:off x="1333500" y="5095875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Pacific Region:</a:t>
              </a: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Current sales leader with highest market density.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15" name="Google Shape;715;p48"/>
            <p:cNvSpPr/>
            <p:nvPr/>
          </p:nvSpPr>
          <p:spPr>
            <a:xfrm>
              <a:off x="762000" y="5810250"/>
              <a:ext cx="4857900" cy="571500"/>
            </a:xfrm>
            <a:prstGeom prst="roundRect">
              <a:avLst>
                <a:gd fmla="val 13333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8"/>
            <p:cNvSpPr txBox="1"/>
            <p:nvPr/>
          </p:nvSpPr>
          <p:spPr>
            <a:xfrm>
              <a:off x="857250" y="5845302"/>
              <a:ext cx="38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17" name="Google Shape;717;p48"/>
            <p:cNvSpPr txBox="1"/>
            <p:nvPr/>
          </p:nvSpPr>
          <p:spPr>
            <a:xfrm>
              <a:off x="1333500" y="581025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Gulf Region:</a:t>
              </a:r>
              <a:r>
                <a:rPr b="0" i="0" lang="en-IN" sz="1100" u="none" cap="none" strike="noStrike">
                  <a:solidFill>
                    <a:srgbClr val="FFFFFF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Identified as a primary </a:t>
              </a:r>
              <a:r>
                <a:rPr b="1" i="0" lang="en-IN" sz="11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"Growth Opportunity"</a:t>
              </a:r>
              <a:r>
                <a:rPr b="0" i="0" lang="en-IN" sz="1100" u="none" cap="none" strike="noStrike">
                  <a:solidFill>
                    <a:srgbClr val="FFFFFF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for expansion.</a:t>
              </a:r>
              <a:endParaRPr b="0" i="0" sz="110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718" name="Google Shape;718;p48"/>
          <p:cNvGrpSpPr/>
          <p:nvPr/>
        </p:nvGrpSpPr>
        <p:grpSpPr>
          <a:xfrm>
            <a:off x="6191250" y="1714500"/>
            <a:ext cx="5429400" cy="5143500"/>
            <a:chOff x="6191250" y="1714500"/>
            <a:chExt cx="5429400" cy="5143500"/>
          </a:xfrm>
        </p:grpSpPr>
        <p:sp>
          <p:nvSpPr>
            <p:cNvPr id="719" name="Google Shape;719;p48"/>
            <p:cNvSpPr/>
            <p:nvPr/>
          </p:nvSpPr>
          <p:spPr>
            <a:xfrm>
              <a:off x="6191250" y="1714500"/>
              <a:ext cx="5429400" cy="51435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8"/>
            <p:cNvSpPr txBox="1"/>
            <p:nvPr/>
          </p:nvSpPr>
          <p:spPr>
            <a:xfrm>
              <a:off x="6381750" y="1905000"/>
              <a:ext cx="504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Comparative Distribution Analysis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721" name="Google Shape;721;p48" title="Screenshot 2026-05-19 at 5.48.0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2325" y="2292875"/>
            <a:ext cx="5146450" cy="383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9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9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9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Profitability Analysis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34" name="Google Shape;734;p49"/>
          <p:cNvGrpSpPr/>
          <p:nvPr/>
        </p:nvGrpSpPr>
        <p:grpSpPr>
          <a:xfrm>
            <a:off x="571500" y="1428750"/>
            <a:ext cx="11048925" cy="1047900"/>
            <a:chOff x="571500" y="1428750"/>
            <a:chExt cx="11048925" cy="1047900"/>
          </a:xfrm>
        </p:grpSpPr>
        <p:sp>
          <p:nvSpPr>
            <p:cNvPr id="735" name="Google Shape;735;p49"/>
            <p:cNvSpPr/>
            <p:nvPr/>
          </p:nvSpPr>
          <p:spPr>
            <a:xfrm>
              <a:off x="571500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49"/>
            <p:cNvSpPr txBox="1"/>
            <p:nvPr/>
          </p:nvSpPr>
          <p:spPr>
            <a:xfrm>
              <a:off x="571500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$91K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Total Gross Profit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737" name="Google Shape;737;p49"/>
            <p:cNvSpPr/>
            <p:nvPr/>
          </p:nvSpPr>
          <p:spPr>
            <a:xfrm>
              <a:off x="3381375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9"/>
            <p:cNvSpPr txBox="1"/>
            <p:nvPr/>
          </p:nvSpPr>
          <p:spPr>
            <a:xfrm>
              <a:off x="3381375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66%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Overall Profit Margin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739" name="Google Shape;739;p49"/>
            <p:cNvSpPr/>
            <p:nvPr/>
          </p:nvSpPr>
          <p:spPr>
            <a:xfrm>
              <a:off x="6191250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9"/>
            <p:cNvSpPr txBox="1"/>
            <p:nvPr/>
          </p:nvSpPr>
          <p:spPr>
            <a:xfrm>
              <a:off x="6191250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$2.37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Profit per Unit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741" name="Google Shape;741;p49"/>
            <p:cNvSpPr/>
            <p:nvPr/>
          </p:nvSpPr>
          <p:spPr>
            <a:xfrm>
              <a:off x="9001125" y="1428750"/>
              <a:ext cx="26193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9"/>
            <p:cNvSpPr txBox="1"/>
            <p:nvPr/>
          </p:nvSpPr>
          <p:spPr>
            <a:xfrm>
              <a:off x="9001125" y="1428750"/>
              <a:ext cx="26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$16.17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Avg Order Value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</p:grpSp>
      <p:grpSp>
        <p:nvGrpSpPr>
          <p:cNvPr id="743" name="Google Shape;743;p49"/>
          <p:cNvGrpSpPr/>
          <p:nvPr/>
        </p:nvGrpSpPr>
        <p:grpSpPr>
          <a:xfrm>
            <a:off x="571500" y="2667000"/>
            <a:ext cx="3905400" cy="3238500"/>
            <a:chOff x="571500" y="2667000"/>
            <a:chExt cx="3905400" cy="3238500"/>
          </a:xfrm>
        </p:grpSpPr>
        <p:sp>
          <p:nvSpPr>
            <p:cNvPr id="744" name="Google Shape;744;p49"/>
            <p:cNvSpPr/>
            <p:nvPr/>
          </p:nvSpPr>
          <p:spPr>
            <a:xfrm>
              <a:off x="571500" y="266700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9"/>
            <p:cNvSpPr txBox="1"/>
            <p:nvPr/>
          </p:nvSpPr>
          <p:spPr>
            <a:xfrm>
              <a:off x="809625" y="28575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Profitability by Product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46" name="Google Shape;746;p49"/>
            <p:cNvSpPr/>
            <p:nvPr/>
          </p:nvSpPr>
          <p:spPr>
            <a:xfrm>
              <a:off x="809625" y="5000625"/>
              <a:ext cx="3429000" cy="714300"/>
            </a:xfrm>
            <a:prstGeom prst="roundRect">
              <a:avLst>
                <a:gd fmla="val 10666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9"/>
            <p:cNvSpPr txBox="1"/>
            <p:nvPr/>
          </p:nvSpPr>
          <p:spPr>
            <a:xfrm>
              <a:off x="952500" y="5000625"/>
              <a:ext cx="3143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A small set of Wonka Bar variants account for the majority of gross profit — classic Pareto distribution.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748" name="Google Shape;748;p49"/>
          <p:cNvGrpSpPr/>
          <p:nvPr/>
        </p:nvGrpSpPr>
        <p:grpSpPr>
          <a:xfrm>
            <a:off x="4667250" y="2667000"/>
            <a:ext cx="5048400" cy="3238500"/>
            <a:chOff x="4667250" y="2667000"/>
            <a:chExt cx="5048400" cy="3238500"/>
          </a:xfrm>
        </p:grpSpPr>
        <p:sp>
          <p:nvSpPr>
            <p:cNvPr id="749" name="Google Shape;749;p49"/>
            <p:cNvSpPr/>
            <p:nvPr/>
          </p:nvSpPr>
          <p:spPr>
            <a:xfrm>
              <a:off x="4667250" y="2667000"/>
              <a:ext cx="5048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9"/>
            <p:cNvSpPr txBox="1"/>
            <p:nvPr/>
          </p:nvSpPr>
          <p:spPr>
            <a:xfrm>
              <a:off x="4905375" y="285750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Factory Performance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1" name="Google Shape;751;p49"/>
            <p:cNvSpPr/>
            <p:nvPr/>
          </p:nvSpPr>
          <p:spPr>
            <a:xfrm>
              <a:off x="4905375" y="3286125"/>
              <a:ext cx="4572000" cy="285900"/>
            </a:xfrm>
            <a:prstGeom prst="rect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9"/>
            <p:cNvSpPr txBox="1"/>
            <p:nvPr/>
          </p:nvSpPr>
          <p:spPr>
            <a:xfrm>
              <a:off x="5000625" y="3286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Factory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3" name="Google Shape;753;p49"/>
            <p:cNvSpPr txBox="1"/>
            <p:nvPr/>
          </p:nvSpPr>
          <p:spPr>
            <a:xfrm>
              <a:off x="6143625" y="3286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Revenue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4" name="Google Shape;754;p49"/>
            <p:cNvSpPr txBox="1"/>
            <p:nvPr/>
          </p:nvSpPr>
          <p:spPr>
            <a:xfrm>
              <a:off x="7096125" y="3286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Profit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5" name="Google Shape;755;p49"/>
            <p:cNvSpPr txBox="1"/>
            <p:nvPr/>
          </p:nvSpPr>
          <p:spPr>
            <a:xfrm>
              <a:off x="8048625" y="328612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Margin %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6" name="Google Shape;756;p49"/>
            <p:cNvSpPr txBox="1"/>
            <p:nvPr/>
          </p:nvSpPr>
          <p:spPr>
            <a:xfrm>
              <a:off x="8715375" y="3286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Efficiency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7" name="Google Shape;757;p49"/>
            <p:cNvSpPr/>
            <p:nvPr/>
          </p:nvSpPr>
          <p:spPr>
            <a:xfrm>
              <a:off x="4905375" y="3571875"/>
              <a:ext cx="4572000" cy="285900"/>
            </a:xfrm>
            <a:prstGeom prst="rect">
              <a:avLst/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9"/>
            <p:cNvSpPr txBox="1"/>
            <p:nvPr/>
          </p:nvSpPr>
          <p:spPr>
            <a:xfrm>
              <a:off x="5000625" y="35718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Lot's O' Nuts</a:t>
              </a:r>
              <a:endParaRPr b="1" i="0" sz="10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59" name="Google Shape;759;p49"/>
            <p:cNvSpPr txBox="1"/>
            <p:nvPr/>
          </p:nvSpPr>
          <p:spPr>
            <a:xfrm>
              <a:off x="6143625" y="3571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$76.3k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60" name="Google Shape;760;p49"/>
            <p:cNvSpPr txBox="1"/>
            <p:nvPr/>
          </p:nvSpPr>
          <p:spPr>
            <a:xfrm>
              <a:off x="7070029" y="3571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$52.8k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61" name="Google Shape;761;p49"/>
            <p:cNvSpPr txBox="1"/>
            <p:nvPr/>
          </p:nvSpPr>
          <p:spPr>
            <a:xfrm>
              <a:off x="8048625" y="357187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6</a:t>
              </a: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9.1</a:t>
              </a: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%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62" name="Google Shape;762;p49"/>
            <p:cNvSpPr txBox="1"/>
            <p:nvPr/>
          </p:nvSpPr>
          <p:spPr>
            <a:xfrm>
              <a:off x="8715375" y="35718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3.24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63" name="Google Shape;763;p49"/>
            <p:cNvSpPr txBox="1"/>
            <p:nvPr/>
          </p:nvSpPr>
          <p:spPr>
            <a:xfrm>
              <a:off x="5000625" y="38576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Wicked Choccy’s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64" name="Google Shape;764;p49"/>
            <p:cNvSpPr txBox="1"/>
            <p:nvPr/>
          </p:nvSpPr>
          <p:spPr>
            <a:xfrm>
              <a:off x="5000625" y="41433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Sugar shack</a:t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765" name="Google Shape;765;p49"/>
            <p:cNvSpPr txBox="1"/>
            <p:nvPr/>
          </p:nvSpPr>
          <p:spPr>
            <a:xfrm>
              <a:off x="6143625" y="3857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$55.5k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9"/>
            <p:cNvSpPr txBox="1"/>
            <p:nvPr/>
          </p:nvSpPr>
          <p:spPr>
            <a:xfrm>
              <a:off x="7096125" y="3857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$</a:t>
              </a: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36.</a:t>
              </a: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1K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9"/>
            <p:cNvSpPr txBox="1"/>
            <p:nvPr/>
          </p:nvSpPr>
          <p:spPr>
            <a:xfrm>
              <a:off x="8048625" y="385762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6</a:t>
              </a: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5.1</a:t>
              </a: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9"/>
            <p:cNvSpPr txBox="1"/>
            <p:nvPr/>
          </p:nvSpPr>
          <p:spPr>
            <a:xfrm>
              <a:off x="8715375" y="38576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2.87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9"/>
            <p:cNvSpPr txBox="1"/>
            <p:nvPr/>
          </p:nvSpPr>
          <p:spPr>
            <a:xfrm>
              <a:off x="6143625" y="4143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$</a:t>
              </a: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0.2</a:t>
              </a: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9"/>
            <p:cNvSpPr txBox="1"/>
            <p:nvPr/>
          </p:nvSpPr>
          <p:spPr>
            <a:xfrm>
              <a:off x="7096125" y="4143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$</a:t>
              </a: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0.1</a:t>
              </a: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9"/>
            <p:cNvSpPr txBox="1"/>
            <p:nvPr/>
          </p:nvSpPr>
          <p:spPr>
            <a:xfrm>
              <a:off x="8048625" y="414337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54.9</a:t>
              </a: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9"/>
            <p:cNvSpPr txBox="1"/>
            <p:nvPr/>
          </p:nvSpPr>
          <p:spPr>
            <a:xfrm>
              <a:off x="8715375" y="41433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IN" sz="1000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2.22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9"/>
            <p:cNvSpPr/>
            <p:nvPr/>
          </p:nvSpPr>
          <p:spPr>
            <a:xfrm>
              <a:off x="4905375" y="5095875"/>
              <a:ext cx="4572000" cy="619200"/>
            </a:xfrm>
            <a:prstGeom prst="roundRect">
              <a:avLst>
                <a:gd fmla="val 12307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9"/>
            <p:cNvSpPr txBox="1"/>
            <p:nvPr/>
          </p:nvSpPr>
          <p:spPr>
            <a:xfrm>
              <a:off x="5048250" y="5095875"/>
              <a:ext cx="4286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Lot’s O’ Nuts is the highest-efficiency factory — benchmark for operational best practices. Sugar Shack: $37.2K revenue, $25.1K profit, 67.5% margin. Coco Central: $18.7K revenue, $11.9K profit, 63.6% margin.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775" name="Google Shape;775;p49"/>
          <p:cNvGrpSpPr/>
          <p:nvPr/>
        </p:nvGrpSpPr>
        <p:grpSpPr>
          <a:xfrm>
            <a:off x="9906000" y="2667000"/>
            <a:ext cx="1714500" cy="3238500"/>
            <a:chOff x="9906000" y="2667000"/>
            <a:chExt cx="1714500" cy="3238500"/>
          </a:xfrm>
        </p:grpSpPr>
        <p:sp>
          <p:nvSpPr>
            <p:cNvPr id="776" name="Google Shape;776;p49"/>
            <p:cNvSpPr/>
            <p:nvPr/>
          </p:nvSpPr>
          <p:spPr>
            <a:xfrm>
              <a:off x="9906000" y="2667000"/>
              <a:ext cx="1714500" cy="3238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9"/>
            <p:cNvSpPr txBox="1"/>
            <p:nvPr/>
          </p:nvSpPr>
          <p:spPr>
            <a:xfrm>
              <a:off x="10001250" y="28098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Margin by Division</a:t>
              </a:r>
              <a:endParaRPr b="1" i="0" sz="1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78" name="Google Shape;778;p49"/>
            <p:cNvSpPr/>
            <p:nvPr/>
          </p:nvSpPr>
          <p:spPr>
            <a:xfrm>
              <a:off x="10001250" y="3238500"/>
              <a:ext cx="15240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9"/>
            <p:cNvSpPr txBox="1"/>
            <p:nvPr/>
          </p:nvSpPr>
          <p:spPr>
            <a:xfrm>
              <a:off x="10096500" y="32385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Chocolate</a:t>
              </a:r>
              <a:endParaRPr b="0" i="0" sz="10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68%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80" name="Google Shape;780;p49"/>
            <p:cNvSpPr/>
            <p:nvPr/>
          </p:nvSpPr>
          <p:spPr>
            <a:xfrm>
              <a:off x="10001250" y="3905250"/>
              <a:ext cx="15240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9"/>
            <p:cNvSpPr txBox="1"/>
            <p:nvPr/>
          </p:nvSpPr>
          <p:spPr>
            <a:xfrm>
              <a:off x="10096500" y="390525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Sugar</a:t>
              </a:r>
              <a:endParaRPr b="0" i="0" sz="10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74%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82" name="Google Shape;782;p49"/>
            <p:cNvSpPr/>
            <p:nvPr/>
          </p:nvSpPr>
          <p:spPr>
            <a:xfrm>
              <a:off x="10001250" y="4572000"/>
              <a:ext cx="15240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9"/>
            <p:cNvSpPr txBox="1"/>
            <p:nvPr/>
          </p:nvSpPr>
          <p:spPr>
            <a:xfrm>
              <a:off x="10096500" y="45720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Other</a:t>
              </a:r>
              <a:endParaRPr b="0" i="0" sz="10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72%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84" name="Google Shape;784;p49"/>
            <p:cNvSpPr txBox="1"/>
            <p:nvPr/>
          </p:nvSpPr>
          <p:spPr>
            <a:xfrm>
              <a:off x="10001250" y="52387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1" lang="en-IN" sz="9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Note: Despite lower volume, Sugar/Other divisions may carry stronger unit margins.</a:t>
              </a:r>
              <a:endParaRPr b="0" i="1" sz="9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sp>
        <p:nvSpPr>
          <p:cNvPr id="785" name="Google Shape;785;p49"/>
          <p:cNvSpPr/>
          <p:nvPr/>
        </p:nvSpPr>
        <p:spPr>
          <a:xfrm>
            <a:off x="571500" y="6096000"/>
            <a:ext cx="11049000" cy="476400"/>
          </a:xfrm>
          <a:prstGeom prst="roundRect">
            <a:avLst>
              <a:gd fmla="val 24000" name="adj"/>
            </a:avLst>
          </a:prstGeom>
          <a:solidFill>
            <a:srgbClr val="F0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62000" y="609600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Cost and Gross Profit are the top two predictors of sales revenue — margin structure matters more than volume alone.</a:t>
            </a:r>
            <a:endParaRPr b="1" i="0" sz="11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87" name="Google Shape;787;p49" title="Screenshot 2026-05-20 at 2.48.1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25" y="3179025"/>
            <a:ext cx="3602250" cy="179580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9"/>
          <p:cNvSpPr txBox="1"/>
          <p:nvPr/>
        </p:nvSpPr>
        <p:spPr>
          <a:xfrm>
            <a:off x="5009492" y="4401475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Secret Factory</a:t>
            </a:r>
            <a:endParaRPr b="0" i="0" sz="1000" u="none" cap="none" strike="noStrike">
              <a:solidFill>
                <a:srgbClr val="444444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6152492" y="44014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$8.6k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9"/>
          <p:cNvSpPr txBox="1"/>
          <p:nvPr/>
        </p:nvSpPr>
        <p:spPr>
          <a:xfrm>
            <a:off x="7097300" y="44014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$4.3k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9"/>
          <p:cNvSpPr txBox="1"/>
          <p:nvPr/>
        </p:nvSpPr>
        <p:spPr>
          <a:xfrm>
            <a:off x="7740129" y="44014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50.6%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9"/>
          <p:cNvSpPr txBox="1"/>
          <p:nvPr/>
        </p:nvSpPr>
        <p:spPr>
          <a:xfrm>
            <a:off x="8371171" y="44014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9"/>
          <p:cNvSpPr txBox="1"/>
          <p:nvPr/>
        </p:nvSpPr>
        <p:spPr>
          <a:xfrm>
            <a:off x="5009492" y="4687375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Other Factory</a:t>
            </a:r>
            <a:endParaRPr b="0" i="0" sz="1000" u="none" cap="none" strike="noStrike">
              <a:solidFill>
                <a:srgbClr val="444444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94" name="Google Shape;794;p49"/>
          <p:cNvSpPr txBox="1"/>
          <p:nvPr/>
        </p:nvSpPr>
        <p:spPr>
          <a:xfrm>
            <a:off x="6152492" y="4687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$1.3k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9"/>
          <p:cNvSpPr txBox="1"/>
          <p:nvPr/>
        </p:nvSpPr>
        <p:spPr>
          <a:xfrm>
            <a:off x="7057507" y="4687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$0.2k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9"/>
          <p:cNvSpPr txBox="1"/>
          <p:nvPr/>
        </p:nvSpPr>
        <p:spPr>
          <a:xfrm>
            <a:off x="8031929" y="4687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11.9%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9"/>
          <p:cNvSpPr txBox="1"/>
          <p:nvPr/>
        </p:nvSpPr>
        <p:spPr>
          <a:xfrm>
            <a:off x="8692617" y="4687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0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0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Operational Efficiency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10" name="Google Shape;810;p50"/>
          <p:cNvGrpSpPr/>
          <p:nvPr/>
        </p:nvGrpSpPr>
        <p:grpSpPr>
          <a:xfrm>
            <a:off x="571500" y="1428750"/>
            <a:ext cx="11039550" cy="1047900"/>
            <a:chOff x="571500" y="1428750"/>
            <a:chExt cx="11039550" cy="1047900"/>
          </a:xfrm>
        </p:grpSpPr>
        <p:sp>
          <p:nvSpPr>
            <p:cNvPr id="811" name="Google Shape;811;p50"/>
            <p:cNvSpPr/>
            <p:nvPr/>
          </p:nvSpPr>
          <p:spPr>
            <a:xfrm>
              <a:off x="571500" y="1428750"/>
              <a:ext cx="3552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 txBox="1"/>
            <p:nvPr/>
          </p:nvSpPr>
          <p:spPr>
            <a:xfrm>
              <a:off x="571500" y="1428750"/>
              <a:ext cx="35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5–6 Years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Shipping Anomaly Flagged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4314825" y="1428750"/>
              <a:ext cx="3552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0"/>
            <p:cNvSpPr txBox="1"/>
            <p:nvPr/>
          </p:nvSpPr>
          <p:spPr>
            <a:xfrm>
              <a:off x="4314825" y="1428750"/>
              <a:ext cx="35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~0.00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Shipping Correlation with Revenue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8058150" y="1428750"/>
              <a:ext cx="3552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0"/>
            <p:cNvSpPr txBox="1"/>
            <p:nvPr/>
          </p:nvSpPr>
          <p:spPr>
            <a:xfrm>
              <a:off x="8058150" y="1428750"/>
              <a:ext cx="35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Standard</a:t>
              </a:r>
              <a:endParaRPr b="1" i="0" sz="32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666666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Top Ship Mode by Orders</a:t>
              </a:r>
              <a:endParaRPr b="0" i="0" sz="1200" u="none" cap="none" strike="noStrike">
                <a:solidFill>
                  <a:srgbClr val="666666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</p:grpSp>
      <p:grpSp>
        <p:nvGrpSpPr>
          <p:cNvPr id="817" name="Google Shape;817;p50"/>
          <p:cNvGrpSpPr/>
          <p:nvPr/>
        </p:nvGrpSpPr>
        <p:grpSpPr>
          <a:xfrm>
            <a:off x="571500" y="2667000"/>
            <a:ext cx="3905400" cy="3238500"/>
            <a:chOff x="571500" y="2667000"/>
            <a:chExt cx="3905400" cy="3238500"/>
          </a:xfrm>
        </p:grpSpPr>
        <p:sp>
          <p:nvSpPr>
            <p:cNvPr id="818" name="Google Shape;818;p50"/>
            <p:cNvSpPr/>
            <p:nvPr/>
          </p:nvSpPr>
          <p:spPr>
            <a:xfrm>
              <a:off x="571500" y="266700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0"/>
            <p:cNvSpPr txBox="1"/>
            <p:nvPr/>
          </p:nvSpPr>
          <p:spPr>
            <a:xfrm>
              <a:off x="809625" y="28575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Shipping Lead Time by Mode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809625" y="3286125"/>
              <a:ext cx="3429000" cy="285900"/>
            </a:xfrm>
            <a:prstGeom prst="rect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0"/>
            <p:cNvSpPr txBox="1"/>
            <p:nvPr/>
          </p:nvSpPr>
          <p:spPr>
            <a:xfrm>
              <a:off x="809625" y="3286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Ship Mode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22" name="Google Shape;822;p50"/>
            <p:cNvSpPr txBox="1"/>
            <p:nvPr/>
          </p:nvSpPr>
          <p:spPr>
            <a:xfrm>
              <a:off x="1952625" y="3286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Orders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23" name="Google Shape;823;p50"/>
            <p:cNvSpPr txBox="1"/>
            <p:nvPr/>
          </p:nvSpPr>
          <p:spPr>
            <a:xfrm>
              <a:off x="2714625" y="3286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Avg Lead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24" name="Google Shape;824;p50"/>
            <p:cNvSpPr txBox="1"/>
            <p:nvPr/>
          </p:nvSpPr>
          <p:spPr>
            <a:xfrm>
              <a:off x="3476625" y="3286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Max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809625" y="3571875"/>
              <a:ext cx="3429000" cy="285900"/>
            </a:xfrm>
            <a:prstGeom prst="rect">
              <a:avLst/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0"/>
            <p:cNvSpPr txBox="1"/>
            <p:nvPr/>
          </p:nvSpPr>
          <p:spPr>
            <a:xfrm>
              <a:off x="809625" y="3571875"/>
              <a:ext cx="342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827" name="Google Shape;827;p50"/>
            <p:cNvSpPr txBox="1"/>
            <p:nvPr/>
          </p:nvSpPr>
          <p:spPr>
            <a:xfrm>
              <a:off x="809625" y="35718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Standard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0"/>
            <p:cNvSpPr txBox="1"/>
            <p:nvPr/>
          </p:nvSpPr>
          <p:spPr>
            <a:xfrm>
              <a:off x="1952625" y="35718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5,231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0"/>
            <p:cNvSpPr txBox="1"/>
            <p:nvPr/>
          </p:nvSpPr>
          <p:spPr>
            <a:xfrm>
              <a:off x="2714625" y="35718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2,120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0"/>
            <p:cNvSpPr txBox="1"/>
            <p:nvPr/>
          </p:nvSpPr>
          <p:spPr>
            <a:xfrm>
              <a:off x="3476625" y="35718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2,240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0"/>
            <p:cNvSpPr txBox="1"/>
            <p:nvPr/>
          </p:nvSpPr>
          <p:spPr>
            <a:xfrm>
              <a:off x="1952625" y="38576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1,840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0"/>
            <p:cNvSpPr txBox="1"/>
            <p:nvPr/>
          </p:nvSpPr>
          <p:spPr>
            <a:xfrm>
              <a:off x="2714625" y="38576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1,980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0"/>
            <p:cNvSpPr txBox="1"/>
            <p:nvPr/>
          </p:nvSpPr>
          <p:spPr>
            <a:xfrm>
              <a:off x="3476625" y="38576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2,190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0"/>
            <p:cNvSpPr txBox="1"/>
            <p:nvPr/>
          </p:nvSpPr>
          <p:spPr>
            <a:xfrm>
              <a:off x="809625" y="41433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First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0"/>
            <p:cNvSpPr txBox="1"/>
            <p:nvPr/>
          </p:nvSpPr>
          <p:spPr>
            <a:xfrm>
              <a:off x="1952625" y="41433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1,478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0"/>
            <p:cNvSpPr txBox="1"/>
            <p:nvPr/>
          </p:nvSpPr>
          <p:spPr>
            <a:xfrm>
              <a:off x="2714625" y="41433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1,850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0"/>
            <p:cNvSpPr txBox="1"/>
            <p:nvPr/>
          </p:nvSpPr>
          <p:spPr>
            <a:xfrm>
              <a:off x="3476625" y="41433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2,050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0"/>
            <p:cNvSpPr txBox="1"/>
            <p:nvPr/>
          </p:nvSpPr>
          <p:spPr>
            <a:xfrm>
              <a:off x="809625" y="4429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Same Day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0"/>
            <p:cNvSpPr txBox="1"/>
            <p:nvPr/>
          </p:nvSpPr>
          <p:spPr>
            <a:xfrm>
              <a:off x="1952625" y="4429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496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0"/>
            <p:cNvSpPr txBox="1"/>
            <p:nvPr/>
          </p:nvSpPr>
          <p:spPr>
            <a:xfrm>
              <a:off x="2714625" y="4429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1,820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0"/>
            <p:cNvSpPr txBox="1"/>
            <p:nvPr/>
          </p:nvSpPr>
          <p:spPr>
            <a:xfrm>
              <a:off x="3476625" y="4429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2,010 days*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0"/>
            <p:cNvSpPr txBox="1"/>
            <p:nvPr/>
          </p:nvSpPr>
          <p:spPr>
            <a:xfrm>
              <a:off x="809625" y="442912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0"/>
            <p:cNvSpPr/>
            <p:nvPr/>
          </p:nvSpPr>
          <p:spPr>
            <a:xfrm>
              <a:off x="809625" y="4762500"/>
              <a:ext cx="3429000" cy="952500"/>
            </a:xfrm>
            <a:prstGeom prst="roundRect">
              <a:avLst>
                <a:gd fmla="val 8000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0"/>
            <p:cNvSpPr txBox="1"/>
            <p:nvPr/>
          </p:nvSpPr>
          <p:spPr>
            <a:xfrm>
              <a:off x="952500" y="4857750"/>
              <a:ext cx="3143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B91C1C"/>
                  </a:solidFill>
                  <a:latin typeface="Raleway"/>
                  <a:ea typeface="Raleway"/>
                  <a:cs typeface="Raleway"/>
                  <a:sym typeface="Raleway"/>
                </a:rPr>
                <a:t>⚠️ Data Anomaly — Ship dates recorded 5–6 years after order dates. Source system error. Logistics KPIs invalid for decision-making</a:t>
              </a:r>
              <a:endParaRPr b="1" i="0" sz="1100" u="none" cap="none" strike="noStrike">
                <a:solidFill>
                  <a:srgbClr val="B91C1C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845" name="Google Shape;845;p50"/>
          <p:cNvGrpSpPr/>
          <p:nvPr/>
        </p:nvGrpSpPr>
        <p:grpSpPr>
          <a:xfrm>
            <a:off x="4667250" y="2667000"/>
            <a:ext cx="3333900" cy="3238500"/>
            <a:chOff x="4667250" y="2667000"/>
            <a:chExt cx="3333900" cy="3238500"/>
          </a:xfrm>
        </p:grpSpPr>
        <p:sp>
          <p:nvSpPr>
            <p:cNvPr id="846" name="Google Shape;846;p50"/>
            <p:cNvSpPr/>
            <p:nvPr/>
          </p:nvSpPr>
          <p:spPr>
            <a:xfrm>
              <a:off x="4667250" y="266700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0"/>
            <p:cNvSpPr txBox="1"/>
            <p:nvPr/>
          </p:nvSpPr>
          <p:spPr>
            <a:xfrm>
              <a:off x="4905375" y="2857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Units vs Sales Correlation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pic>
          <p:nvPicPr>
            <p:cNvPr id="848" name="Google Shape;848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43488" y="3619500"/>
              <a:ext cx="2385900" cy="133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50"/>
            <p:cNvSpPr/>
            <p:nvPr/>
          </p:nvSpPr>
          <p:spPr>
            <a:xfrm>
              <a:off x="5210175" y="4733925"/>
              <a:ext cx="57300" cy="57300"/>
            </a:xfrm>
            <a:prstGeom prst="ellipse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0"/>
            <p:cNvSpPr/>
            <p:nvPr/>
          </p:nvSpPr>
          <p:spPr>
            <a:xfrm>
              <a:off x="5400675" y="4543425"/>
              <a:ext cx="57300" cy="57300"/>
            </a:xfrm>
            <a:prstGeom prst="ellipse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0"/>
            <p:cNvSpPr/>
            <p:nvPr/>
          </p:nvSpPr>
          <p:spPr>
            <a:xfrm>
              <a:off x="5591175" y="4448175"/>
              <a:ext cx="57300" cy="57300"/>
            </a:xfrm>
            <a:prstGeom prst="ellipse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0"/>
            <p:cNvSpPr/>
            <p:nvPr/>
          </p:nvSpPr>
          <p:spPr>
            <a:xfrm>
              <a:off x="5781675" y="4257675"/>
              <a:ext cx="57300" cy="57300"/>
            </a:xfrm>
            <a:prstGeom prst="ellipse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0"/>
            <p:cNvSpPr/>
            <p:nvPr/>
          </p:nvSpPr>
          <p:spPr>
            <a:xfrm>
              <a:off x="6067425" y="3971925"/>
              <a:ext cx="57300" cy="57300"/>
            </a:xfrm>
            <a:prstGeom prst="ellipse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0"/>
            <p:cNvSpPr/>
            <p:nvPr/>
          </p:nvSpPr>
          <p:spPr>
            <a:xfrm>
              <a:off x="6448425" y="3781425"/>
              <a:ext cx="57300" cy="57300"/>
            </a:xfrm>
            <a:prstGeom prst="ellipse">
              <a:avLst/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0"/>
            <p:cNvSpPr txBox="1"/>
            <p:nvPr/>
          </p:nvSpPr>
          <p:spPr>
            <a:xfrm>
              <a:off x="5048250" y="5048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Left: Units → Sales (r=0.73) ✅</a:t>
              </a:r>
              <a:endParaRPr b="0" i="0" sz="10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IN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Right: Shipping → Sales (r≈0) ❌</a:t>
              </a:r>
              <a:endParaRPr b="0" i="0" sz="10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Units ordered is the strongest revenue predictor.</a:t>
              </a:r>
              <a:endParaRPr b="1" i="0" sz="10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856" name="Google Shape;856;p50"/>
          <p:cNvGrpSpPr/>
          <p:nvPr/>
        </p:nvGrpSpPr>
        <p:grpSpPr>
          <a:xfrm>
            <a:off x="8191500" y="2667000"/>
            <a:ext cx="3429000" cy="3238500"/>
            <a:chOff x="8191500" y="2667000"/>
            <a:chExt cx="3429000" cy="3238500"/>
          </a:xfrm>
        </p:grpSpPr>
        <p:sp>
          <p:nvSpPr>
            <p:cNvPr id="857" name="Google Shape;857;p50"/>
            <p:cNvSpPr/>
            <p:nvPr/>
          </p:nvSpPr>
          <p:spPr>
            <a:xfrm>
              <a:off x="8191500" y="2667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0"/>
            <p:cNvSpPr txBox="1"/>
            <p:nvPr/>
          </p:nvSpPr>
          <p:spPr>
            <a:xfrm>
              <a:off x="8429625" y="28575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Key Operational Insights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859" name="Google Shape;859;p50"/>
            <p:cNvGrpSpPr/>
            <p:nvPr/>
          </p:nvGrpSpPr>
          <p:grpSpPr>
            <a:xfrm>
              <a:off x="8429625" y="3286125"/>
              <a:ext cx="2952750" cy="571500"/>
              <a:chOff x="0" y="0"/>
              <a:chExt cx="2952750" cy="571500"/>
            </a:xfrm>
          </p:grpSpPr>
          <p:sp>
            <p:nvSpPr>
              <p:cNvPr id="860" name="Google Shape;860;p50"/>
              <p:cNvSpPr txBox="1"/>
              <p:nvPr/>
            </p:nvSpPr>
            <p:spPr>
              <a:xfrm>
                <a:off x="0" y="35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861" name="Google Shape;861;p50"/>
              <p:cNvSpPr txBox="1"/>
              <p:nvPr/>
            </p:nvSpPr>
            <p:spPr>
              <a:xfrm>
                <a:off x="476250" y="0"/>
                <a:ext cx="2476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Factory Efficiency</a:t>
                </a:r>
                <a:endParaRPr b="1" i="0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Lot's O' Nuts leads (1.93). Benchmark others against this standard.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862" name="Google Shape;862;p50"/>
            <p:cNvGrpSpPr/>
            <p:nvPr/>
          </p:nvGrpSpPr>
          <p:grpSpPr>
            <a:xfrm>
              <a:off x="8429625" y="4048125"/>
              <a:ext cx="2952750" cy="571500"/>
              <a:chOff x="0" y="0"/>
              <a:chExt cx="2952750" cy="571500"/>
            </a:xfrm>
          </p:grpSpPr>
          <p:sp>
            <p:nvSpPr>
              <p:cNvPr id="863" name="Google Shape;863;p50"/>
              <p:cNvSpPr txBox="1"/>
              <p:nvPr/>
            </p:nvSpPr>
            <p:spPr>
              <a:xfrm>
                <a:off x="0" y="35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864" name="Google Shape;864;p50"/>
              <p:cNvSpPr txBox="1"/>
              <p:nvPr/>
            </p:nvSpPr>
            <p:spPr>
              <a:xfrm>
                <a:off x="476250" y="0"/>
                <a:ext cx="2476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Volume Strategy</a:t>
                </a:r>
                <a:endParaRPr b="1" i="0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Units drive revenue more than logistics. Prioritise bulk fulfilment.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  <p:grpSp>
          <p:nvGrpSpPr>
            <p:cNvPr id="865" name="Google Shape;865;p50"/>
            <p:cNvGrpSpPr/>
            <p:nvPr/>
          </p:nvGrpSpPr>
          <p:grpSpPr>
            <a:xfrm>
              <a:off x="8429625" y="4810125"/>
              <a:ext cx="2952750" cy="571500"/>
              <a:chOff x="0" y="0"/>
              <a:chExt cx="2952750" cy="571500"/>
            </a:xfrm>
          </p:grpSpPr>
          <p:sp>
            <p:nvSpPr>
              <p:cNvPr id="866" name="Google Shape;866;p50"/>
              <p:cNvSpPr txBox="1"/>
              <p:nvPr/>
            </p:nvSpPr>
            <p:spPr>
              <a:xfrm>
                <a:off x="0" y="35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348E90"/>
                  </a:solidFill>
                  <a:latin typeface="Mate"/>
                  <a:ea typeface="Mate"/>
                  <a:cs typeface="Mate"/>
                  <a:sym typeface="Mate"/>
                </a:endParaRPr>
              </a:p>
            </p:txBody>
          </p:sp>
          <p:sp>
            <p:nvSpPr>
              <p:cNvPr id="867" name="Google Shape;867;p50"/>
              <p:cNvSpPr txBox="1"/>
              <p:nvPr/>
            </p:nvSpPr>
            <p:spPr>
              <a:xfrm>
                <a:off x="476250" y="0"/>
                <a:ext cx="2476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IN" sz="1100" u="none" cap="none" strike="noStrike">
                    <a:solidFill>
                      <a:srgbClr val="348E9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Seasonal Ops</a:t>
                </a:r>
                <a:endParaRPr b="1" i="0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IN" sz="1000" u="none" cap="none" strike="noStrike">
                    <a:solidFill>
                      <a:srgbClr val="666666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rPr>
                  <a:t>Q4 surge requires Q3 build-up. Pre-allocate capacity by August.</a:t>
                </a:r>
                <a:endParaRPr b="0" i="0" sz="10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endParaRPr>
              </a:p>
            </p:txBody>
          </p:sp>
        </p:grpSp>
      </p:grpSp>
      <p:sp>
        <p:nvSpPr>
          <p:cNvPr id="868" name="Google Shape;868;p50"/>
          <p:cNvSpPr/>
          <p:nvPr/>
        </p:nvSpPr>
        <p:spPr>
          <a:xfrm>
            <a:off x="571500" y="6096000"/>
            <a:ext cx="11049000" cy="476400"/>
          </a:xfrm>
          <a:prstGeom prst="roundRect">
            <a:avLst>
              <a:gd fmla="val 24000" name="adj"/>
            </a:avLst>
          </a:prstGeom>
          <a:solidFill>
            <a:srgbClr val="F0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0"/>
          <p:cNvSpPr txBox="1"/>
          <p:nvPr/>
        </p:nvSpPr>
        <p:spPr>
          <a:xfrm>
            <a:off x="762000" y="609600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rPr>
              <a:t>Recommendation: Fix ship date data entry at source system level before building any logistics KPI dashboard in Power BI.</a:t>
            </a:r>
            <a:endParaRPr b="1" i="0" sz="1100" u="none" cap="none" strike="noStrike">
              <a:solidFill>
                <a:srgbClr val="348E9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0" name="Google Shape;870;p50"/>
          <p:cNvSpPr txBox="1"/>
          <p:nvPr/>
        </p:nvSpPr>
        <p:spPr>
          <a:xfrm>
            <a:off x="818975" y="3866725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Second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0"/>
          <p:cNvSpPr txBox="1"/>
          <p:nvPr/>
        </p:nvSpPr>
        <p:spPr>
          <a:xfrm>
            <a:off x="4795425" y="3381600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348E9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Units</a:t>
            </a:r>
            <a:endParaRPr b="0" i="0" sz="1400" u="none" cap="none" strike="noStrike">
              <a:solidFill>
                <a:srgbClr val="348E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0"/>
          <p:cNvSpPr txBox="1"/>
          <p:nvPr/>
        </p:nvSpPr>
        <p:spPr>
          <a:xfrm>
            <a:off x="7285425" y="4815875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348E9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Sales</a:t>
            </a:r>
            <a:endParaRPr b="0" i="0" sz="1400" u="none" cap="none" strike="noStrike">
              <a:solidFill>
                <a:srgbClr val="348E9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1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1"/>
          <p:cNvSpPr/>
          <p:nvPr/>
        </p:nvSpPr>
        <p:spPr>
          <a:xfrm>
            <a:off x="0" y="523875"/>
            <a:ext cx="3810000" cy="6334200"/>
          </a:xfrm>
          <a:prstGeom prst="rect">
            <a:avLst/>
          </a:prstGeom>
          <a:solidFill>
            <a:srgbClr val="348E90">
              <a:alpha val="3137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1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Key Sales Correlations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85" name="Google Shape;885;p51"/>
          <p:cNvGrpSpPr/>
          <p:nvPr/>
        </p:nvGrpSpPr>
        <p:grpSpPr>
          <a:xfrm>
            <a:off x="571500" y="1714500"/>
            <a:ext cx="5238900" cy="2190900"/>
            <a:chOff x="571500" y="1714500"/>
            <a:chExt cx="5238900" cy="2190900"/>
          </a:xfrm>
        </p:grpSpPr>
        <p:sp>
          <p:nvSpPr>
            <p:cNvPr id="886" name="Google Shape;886;p51"/>
            <p:cNvSpPr/>
            <p:nvPr/>
          </p:nvSpPr>
          <p:spPr>
            <a:xfrm>
              <a:off x="571500" y="171450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1"/>
            <p:cNvSpPr txBox="1"/>
            <p:nvPr/>
          </p:nvSpPr>
          <p:spPr>
            <a:xfrm>
              <a:off x="762000" y="19050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Primary Revenue Driver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88" name="Google Shape;888;p51"/>
            <p:cNvSpPr/>
            <p:nvPr/>
          </p:nvSpPr>
          <p:spPr>
            <a:xfrm>
              <a:off x="762000" y="2381250"/>
              <a:ext cx="1905000" cy="762000"/>
            </a:xfrm>
            <a:prstGeom prst="roundRect">
              <a:avLst>
                <a:gd fmla="val 1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1"/>
            <p:cNvSpPr txBox="1"/>
            <p:nvPr/>
          </p:nvSpPr>
          <p:spPr>
            <a:xfrm>
              <a:off x="762000" y="23812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IN" sz="3200" u="none" cap="none" strike="noStrike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+0.73</a:t>
              </a:r>
              <a:endParaRPr b="1" i="0" sz="3200" u="none" cap="none" strike="noStrike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90" name="Google Shape;890;p51"/>
            <p:cNvSpPr txBox="1"/>
            <p:nvPr/>
          </p:nvSpPr>
          <p:spPr>
            <a:xfrm>
              <a:off x="2809875" y="2381250"/>
              <a:ext cx="2809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Units Ordered Correlation</a:t>
              </a:r>
              <a:endParaRPr b="1" i="0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The analysis identifies </a:t>
              </a:r>
              <a:r>
                <a:rPr b="1" i="0" lang="en-IN" sz="1100" u="none" cap="none" strike="noStrike">
                  <a:solidFill>
                    <a:srgbClr val="444444"/>
                  </a:solidFill>
                  <a:latin typeface="Raleway"/>
                  <a:ea typeface="Raleway"/>
                  <a:cs typeface="Raleway"/>
                  <a:sym typeface="Raleway"/>
                </a:rPr>
                <a:t>Units Ordered</a:t>
              </a: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 as the strongest positive driver of revenue growth, showing a robust statistical link.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891" name="Google Shape;891;p51"/>
          <p:cNvGrpSpPr/>
          <p:nvPr/>
        </p:nvGrpSpPr>
        <p:grpSpPr>
          <a:xfrm>
            <a:off x="571500" y="4095750"/>
            <a:ext cx="5238900" cy="2381400"/>
            <a:chOff x="571500" y="4095750"/>
            <a:chExt cx="5238900" cy="2381400"/>
          </a:xfrm>
        </p:grpSpPr>
        <p:sp>
          <p:nvSpPr>
            <p:cNvPr id="892" name="Google Shape;892;p51"/>
            <p:cNvSpPr/>
            <p:nvPr/>
          </p:nvSpPr>
          <p:spPr>
            <a:xfrm>
              <a:off x="571500" y="4095750"/>
              <a:ext cx="52389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1"/>
            <p:cNvSpPr txBox="1"/>
            <p:nvPr/>
          </p:nvSpPr>
          <p:spPr>
            <a:xfrm>
              <a:off x="762000" y="428625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Temporal &amp; Logistical Factors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94" name="Google Shape;894;p51"/>
            <p:cNvSpPr/>
            <p:nvPr/>
          </p:nvSpPr>
          <p:spPr>
            <a:xfrm>
              <a:off x="762000" y="4762500"/>
              <a:ext cx="4857900" cy="1333500"/>
            </a:xfrm>
            <a:prstGeom prst="roundRect">
              <a:avLst>
                <a:gd fmla="val 5714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1"/>
            <p:cNvSpPr txBox="1"/>
            <p:nvPr/>
          </p:nvSpPr>
          <p:spPr>
            <a:xfrm>
              <a:off x="904875" y="4940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96" name="Google Shape;896;p51"/>
            <p:cNvSpPr txBox="1"/>
            <p:nvPr/>
          </p:nvSpPr>
          <p:spPr>
            <a:xfrm>
              <a:off x="1381125" y="4857750"/>
              <a:ext cx="4095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IN" sz="11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Zero-Impact Variables:</a:t>
              </a:r>
              <a:endParaRPr b="1" i="0" sz="11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66666"/>
                </a:buClr>
                <a:buSzPts val="1100"/>
                <a:buFont typeface="Raleway"/>
                <a:buChar char="●"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Shipping duration shows near-zero correlation with revenue.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666666"/>
                </a:buClr>
                <a:buSzPts val="1100"/>
                <a:buFont typeface="Raleway"/>
                <a:buChar char="●"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Time-based features (order time) do not significantly influence total transaction value.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897" name="Google Shape;897;p51"/>
          <p:cNvGrpSpPr/>
          <p:nvPr/>
        </p:nvGrpSpPr>
        <p:grpSpPr>
          <a:xfrm>
            <a:off x="6191250" y="1714500"/>
            <a:ext cx="5429400" cy="4762500"/>
            <a:chOff x="6191250" y="1714500"/>
            <a:chExt cx="5429400" cy="4762500"/>
          </a:xfrm>
        </p:grpSpPr>
        <p:sp>
          <p:nvSpPr>
            <p:cNvPr id="898" name="Google Shape;898;p51"/>
            <p:cNvSpPr/>
            <p:nvPr/>
          </p:nvSpPr>
          <p:spPr>
            <a:xfrm>
              <a:off x="6191250" y="1714500"/>
              <a:ext cx="5429400" cy="4762500"/>
            </a:xfrm>
            <a:prstGeom prst="roundRect">
              <a:avLst>
                <a:gd fmla="val 24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1"/>
            <p:cNvSpPr txBox="1"/>
            <p:nvPr/>
          </p:nvSpPr>
          <p:spPr>
            <a:xfrm>
              <a:off x="6381750" y="1905000"/>
              <a:ext cx="504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IN" sz="18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Data Integrity &amp; Outlier Strategy</a:t>
              </a:r>
              <a:endParaRPr b="1" i="0" sz="18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900" name="Google Shape;900;p51"/>
            <p:cNvSpPr/>
            <p:nvPr/>
          </p:nvSpPr>
          <p:spPr>
            <a:xfrm>
              <a:off x="6381750" y="5476875"/>
              <a:ext cx="5048400" cy="857400"/>
            </a:xfrm>
            <a:prstGeom prst="roundRect">
              <a:avLst>
                <a:gd fmla="val 8888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1"/>
            <p:cNvSpPr txBox="1"/>
            <p:nvPr/>
          </p:nvSpPr>
          <p:spPr>
            <a:xfrm>
              <a:off x="6524625" y="5511927"/>
              <a:ext cx="457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IN" sz="20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✓</a:t>
              </a:r>
              <a:endParaRPr b="0" i="0" sz="2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902" name="Google Shape;902;p51"/>
            <p:cNvSpPr txBox="1"/>
            <p:nvPr/>
          </p:nvSpPr>
          <p:spPr>
            <a:xfrm>
              <a:off x="7000875" y="5476875"/>
              <a:ext cx="4286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100% BUSINESS DATA PRESERVATION</a:t>
              </a:r>
              <a:endParaRPr b="1" i="0" sz="1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IN" sz="9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The diagnostic model intentionally retains bulk order outliers. Preserving these high-value data points is critical for accurate wholesale revenue forecasting and strategic planning.</a:t>
              </a:r>
              <a:endParaRPr b="0" i="0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903" name="Google Shape;903;p51" title="Screenshot 2026-05-19 at 5.56.1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3450" y="2523700"/>
            <a:ext cx="4641227" cy="249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2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2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Strategic Dashboard Portfolio Overview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15" name="Google Shape;915;p52"/>
          <p:cNvGrpSpPr/>
          <p:nvPr/>
        </p:nvGrpSpPr>
        <p:grpSpPr>
          <a:xfrm>
            <a:off x="571500" y="1714500"/>
            <a:ext cx="5381700" cy="2190900"/>
            <a:chOff x="0" y="0"/>
            <a:chExt cx="5381700" cy="2190900"/>
          </a:xfrm>
        </p:grpSpPr>
        <p:sp>
          <p:nvSpPr>
            <p:cNvPr id="916" name="Google Shape;916;p52"/>
            <p:cNvSpPr/>
            <p:nvPr/>
          </p:nvSpPr>
          <p:spPr>
            <a:xfrm>
              <a:off x="0" y="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2"/>
            <p:cNvSpPr/>
            <p:nvPr/>
          </p:nvSpPr>
          <p:spPr>
            <a:xfrm>
              <a:off x="0" y="0"/>
              <a:ext cx="571500" cy="21909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2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919" name="Google Shape;919;p52"/>
            <p:cNvSpPr txBox="1"/>
            <p:nvPr/>
          </p:nvSpPr>
          <p:spPr>
            <a:xfrm>
              <a:off x="762000" y="238125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Sales Dashboard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Objective</a:t>
              </a:r>
              <a:endParaRPr b="1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Executive revenue performance, regional sales trends, and target achievement metrics.</a:t>
              </a:r>
              <a:endParaRPr b="0" i="0" sz="12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920" name="Google Shape;920;p52"/>
          <p:cNvGrpSpPr/>
          <p:nvPr/>
        </p:nvGrpSpPr>
        <p:grpSpPr>
          <a:xfrm>
            <a:off x="6238875" y="1714500"/>
            <a:ext cx="5381700" cy="2190900"/>
            <a:chOff x="0" y="0"/>
            <a:chExt cx="5381700" cy="2190900"/>
          </a:xfrm>
        </p:grpSpPr>
        <p:sp>
          <p:nvSpPr>
            <p:cNvPr id="921" name="Google Shape;921;p52"/>
            <p:cNvSpPr/>
            <p:nvPr/>
          </p:nvSpPr>
          <p:spPr>
            <a:xfrm>
              <a:off x="0" y="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2"/>
            <p:cNvSpPr/>
            <p:nvPr/>
          </p:nvSpPr>
          <p:spPr>
            <a:xfrm>
              <a:off x="0" y="0"/>
              <a:ext cx="571500" cy="21909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2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924" name="Google Shape;924;p52"/>
            <p:cNvSpPr txBox="1"/>
            <p:nvPr/>
          </p:nvSpPr>
          <p:spPr>
            <a:xfrm>
              <a:off x="762000" y="238125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Profit Dashboard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Objective</a:t>
              </a:r>
              <a:endParaRPr b="1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Deep-dive analysis into profitability, margin health, cost structures, and profit contributions.</a:t>
              </a:r>
              <a:endParaRPr b="0" i="0" sz="12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925" name="Google Shape;925;p52"/>
          <p:cNvGrpSpPr/>
          <p:nvPr/>
        </p:nvGrpSpPr>
        <p:grpSpPr>
          <a:xfrm>
            <a:off x="571500" y="4191000"/>
            <a:ext cx="5381700" cy="2190900"/>
            <a:chOff x="0" y="0"/>
            <a:chExt cx="5381700" cy="2190900"/>
          </a:xfrm>
        </p:grpSpPr>
        <p:sp>
          <p:nvSpPr>
            <p:cNvPr id="926" name="Google Shape;926;p52"/>
            <p:cNvSpPr/>
            <p:nvPr/>
          </p:nvSpPr>
          <p:spPr>
            <a:xfrm>
              <a:off x="0" y="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2"/>
            <p:cNvSpPr/>
            <p:nvPr/>
          </p:nvSpPr>
          <p:spPr>
            <a:xfrm>
              <a:off x="0" y="0"/>
              <a:ext cx="571500" cy="21909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2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929" name="Google Shape;929;p52"/>
            <p:cNvSpPr txBox="1"/>
            <p:nvPr/>
          </p:nvSpPr>
          <p:spPr>
            <a:xfrm>
              <a:off x="762000" y="238125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Factory Performance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Objective</a:t>
              </a:r>
              <a:endParaRPr b="1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Cross-factory operational and financial evaluation focusing on efficiency and downtime.</a:t>
              </a:r>
              <a:endParaRPr b="0" i="0" sz="12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930" name="Google Shape;930;p52"/>
          <p:cNvGrpSpPr/>
          <p:nvPr/>
        </p:nvGrpSpPr>
        <p:grpSpPr>
          <a:xfrm>
            <a:off x="6238875" y="4191000"/>
            <a:ext cx="5381700" cy="2190900"/>
            <a:chOff x="0" y="0"/>
            <a:chExt cx="5381700" cy="2190900"/>
          </a:xfrm>
        </p:grpSpPr>
        <p:sp>
          <p:nvSpPr>
            <p:cNvPr id="931" name="Google Shape;931;p52"/>
            <p:cNvSpPr/>
            <p:nvPr/>
          </p:nvSpPr>
          <p:spPr>
            <a:xfrm>
              <a:off x="0" y="0"/>
              <a:ext cx="5381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2"/>
            <p:cNvSpPr/>
            <p:nvPr/>
          </p:nvSpPr>
          <p:spPr>
            <a:xfrm>
              <a:off x="0" y="0"/>
              <a:ext cx="571500" cy="21909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2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934" name="Google Shape;934;p52"/>
            <p:cNvSpPr txBox="1"/>
            <p:nvPr/>
          </p:nvSpPr>
          <p:spPr>
            <a:xfrm>
              <a:off x="762000" y="238125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Product Performance</a:t>
              </a:r>
              <a:endParaRPr b="1" i="0" sz="16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IN" sz="1000" u="none" cap="none" strike="noStrik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Objective</a:t>
              </a:r>
              <a:endParaRPr b="1" i="0" sz="1000" u="none" cap="none" strike="noStrike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Understanding demand cycles, product-level profitability, and division-level growth.</a:t>
              </a:r>
              <a:endParaRPr b="0" i="0" sz="1200" u="none" cap="none" strike="noStrike">
                <a:solidFill>
                  <a:srgbClr val="444444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3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3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Sales Dashboard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6" name="Google Shape;946;p53"/>
          <p:cNvSpPr txBox="1"/>
          <p:nvPr/>
        </p:nvSpPr>
        <p:spPr>
          <a:xfrm>
            <a:off x="714375" y="1857375"/>
            <a:ext cx="238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947" name="Google Shape;947;p53" title="WhatsApp Image 2026-05-17 at 15.41.36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000" y="1268700"/>
            <a:ext cx="9770700" cy="547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4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4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Profit Dashboard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59" name="Google Shape;959;p54" title="WhatsApp Image 2026-05-17 at 15.42.04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13" y="1471050"/>
            <a:ext cx="11001375" cy="52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5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5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Factory performance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1" name="Google Shape;971;p55" title="WhatsApp Image 2026-05-17 at 15.42.36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333500"/>
            <a:ext cx="11020425" cy="53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6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6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Product Performance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83" name="Google Shape;983;p56" title="WhatsApp Image 2026-05-17 at 15.42.57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1333500"/>
            <a:ext cx="11010900" cy="53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57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Predictive Modeling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7"/>
          <p:cNvSpPr/>
          <p:nvPr/>
        </p:nvSpPr>
        <p:spPr>
          <a:xfrm>
            <a:off x="457200" y="685800"/>
            <a:ext cx="3429000" cy="304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IN" sz="13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1.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57"/>
          <p:cNvSpPr/>
          <p:nvPr/>
        </p:nvSpPr>
        <p:spPr>
          <a:xfrm>
            <a:off x="457200" y="990600"/>
            <a:ext cx="342900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Features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Units, Cost, Unit Price, Unit Cost, Division, Region, Ship Mode, Shipping Days, Order Month, Quarter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Leakage Prevention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Gross Profit excluded from training data to prevent target leakage and ensure generalizability.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Categorical features (Division, Region, Ship Mode) encoded. StandardScaler applied to all numeric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Outlier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Bulk order outliers intentionally retained. These represent real wholesale demand, not noise.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57"/>
          <p:cNvSpPr/>
          <p:nvPr/>
        </p:nvSpPr>
        <p:spPr>
          <a:xfrm>
            <a:off x="4114800" y="685800"/>
            <a:ext cx="3429000" cy="304800"/>
          </a:xfrm>
          <a:prstGeom prst="rect">
            <a:avLst/>
          </a:prstGeom>
          <a:solidFill>
            <a:srgbClr val="2A72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IN" sz="13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2. Train-Test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57"/>
          <p:cNvSpPr/>
          <p:nvPr/>
        </p:nvSpPr>
        <p:spPr>
          <a:xfrm>
            <a:off x="4114800" y="990600"/>
            <a:ext cx="342900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Split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80% Train / 20% Test | random_state=42 for reproducibility.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Cross-Validation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5-Fold K-Fold cross-validation applied to both models to verify stability and detect overfitting.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Overfitting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Train vs. Test R² gap measured. High R² (0.985) validated via learning curve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2A7274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Why High R²?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Sales = Units x Unit Price is near-algebraic. Strong R² reflects this structural relationship, not overfitting.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7"/>
          <p:cNvSpPr/>
          <p:nvPr/>
        </p:nvSpPr>
        <p:spPr>
          <a:xfrm>
            <a:off x="7772400" y="685800"/>
            <a:ext cx="3962400" cy="304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IN" sz="13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3. Models Evaluated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7"/>
          <p:cNvSpPr/>
          <p:nvPr/>
        </p:nvSpPr>
        <p:spPr>
          <a:xfrm>
            <a:off x="7772400" y="990600"/>
            <a:ext cx="3962400" cy="54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Linear Regression (Baseline)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R²: 0.99 | MAE: 0.36 | RMSE: 0.93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Random Forest (Selected Model)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R²: 0.985 | MAE: 0.41 | RMSE: 0.97 | n_estimators=100, max_depth=5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Why Random Forest?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Handles non-linear interactions between Division, volume, and price segments better than a linear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348E9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Evaluation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444444"/>
                </a:solidFill>
                <a:latin typeface="Raleway"/>
                <a:ea typeface="Raleway"/>
                <a:cs typeface="Raleway"/>
                <a:sym typeface="Raleway"/>
              </a:rPr>
              <a:t>R² (variance explained), MAE (absolute error), RMSE (penalises large deviations)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8"/>
          <p:cNvSpPr txBox="1"/>
          <p:nvPr/>
        </p:nvSpPr>
        <p:spPr>
          <a:xfrm>
            <a:off x="571500" y="381000"/>
            <a:ext cx="11049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0"/>
              <a:buFont typeface="Arial"/>
              <a:buNone/>
            </a:pPr>
            <a:r>
              <a:rPr b="1" i="0" lang="en-IN" sz="333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Predictive Modeling — Strategic Feature Engineering</a:t>
            </a:r>
            <a:endParaRPr b="1" i="0" sz="333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07" name="Google Shape;1007;p58"/>
          <p:cNvGrpSpPr/>
          <p:nvPr/>
        </p:nvGrpSpPr>
        <p:grpSpPr>
          <a:xfrm>
            <a:off x="571500" y="1238250"/>
            <a:ext cx="5334000" cy="1333500"/>
            <a:chOff x="571500" y="1238250"/>
            <a:chExt cx="5334000" cy="1333500"/>
          </a:xfrm>
        </p:grpSpPr>
        <p:sp>
          <p:nvSpPr>
            <p:cNvPr id="1008" name="Google Shape;1008;p58"/>
            <p:cNvSpPr/>
            <p:nvPr/>
          </p:nvSpPr>
          <p:spPr>
            <a:xfrm>
              <a:off x="571500" y="1238250"/>
              <a:ext cx="5334000" cy="1333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8"/>
            <p:cNvSpPr txBox="1"/>
            <p:nvPr/>
          </p:nvSpPr>
          <p:spPr>
            <a:xfrm>
              <a:off x="762000" y="1475486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10" name="Google Shape;1010;p58"/>
            <p:cNvSpPr txBox="1"/>
            <p:nvPr/>
          </p:nvSpPr>
          <p:spPr>
            <a:xfrm>
              <a:off x="1428750" y="1428750"/>
              <a:ext cx="4286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65"/>
                <a:buFont typeface="Arial"/>
                <a:buNone/>
              </a:pPr>
              <a:r>
                <a:rPr b="0" i="0" lang="en-IN" sz="1665" u="none" cap="none" strike="noStrike">
                  <a:solidFill>
                    <a:srgbClr val="2A7E84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Project Evolution</a:t>
              </a:r>
              <a:endParaRPr b="0" i="0" sz="1665" u="none" cap="none" strike="noStrike">
                <a:solidFill>
                  <a:srgbClr val="2A7E84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None/>
              </a:pPr>
              <a:r>
                <a:rPr b="0" i="0" lang="en-IN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Transitioning from descriptive analytics to predictive modeling utilizing a Random Forest Regressor for enhanced forecasting accuracy.</a:t>
              </a:r>
              <a:endParaRPr b="0" i="0" sz="129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1" name="Google Shape;1011;p58"/>
          <p:cNvGrpSpPr/>
          <p:nvPr/>
        </p:nvGrpSpPr>
        <p:grpSpPr>
          <a:xfrm>
            <a:off x="571500" y="2762250"/>
            <a:ext cx="5334000" cy="3333900"/>
            <a:chOff x="571500" y="2762250"/>
            <a:chExt cx="5334000" cy="3333900"/>
          </a:xfrm>
        </p:grpSpPr>
        <p:sp>
          <p:nvSpPr>
            <p:cNvPr id="1012" name="Google Shape;1012;p58"/>
            <p:cNvSpPr/>
            <p:nvPr/>
          </p:nvSpPr>
          <p:spPr>
            <a:xfrm>
              <a:off x="571500" y="2762250"/>
              <a:ext cx="5334000" cy="33339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8"/>
            <p:cNvSpPr/>
            <p:nvPr/>
          </p:nvSpPr>
          <p:spPr>
            <a:xfrm>
              <a:off x="571500" y="2762250"/>
              <a:ext cx="5334000" cy="476400"/>
            </a:xfrm>
            <a:prstGeom prst="roundRect">
              <a:avLst>
                <a:gd fmla="val 20000" name="adj"/>
              </a:avLst>
            </a:prstGeom>
            <a:solidFill>
              <a:srgbClr val="2A7E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8"/>
            <p:cNvSpPr txBox="1"/>
            <p:nvPr/>
          </p:nvSpPr>
          <p:spPr>
            <a:xfrm>
              <a:off x="762000" y="2809875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Predictor Features</a:t>
              </a:r>
              <a:endParaRPr b="1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5" name="Google Shape;1015;p58"/>
            <p:cNvGrpSpPr/>
            <p:nvPr/>
          </p:nvGrpSpPr>
          <p:grpSpPr>
            <a:xfrm>
              <a:off x="762000" y="3429000"/>
              <a:ext cx="4953000" cy="410210"/>
              <a:chOff x="0" y="0"/>
              <a:chExt cx="4953000" cy="410210"/>
            </a:xfrm>
          </p:grpSpPr>
          <p:sp>
            <p:nvSpPr>
              <p:cNvPr id="1016" name="Google Shape;1016;p58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017" name="Google Shape;1017;p58"/>
              <p:cNvSpPr txBox="1"/>
              <p:nvPr/>
            </p:nvSpPr>
            <p:spPr>
              <a:xfrm>
                <a:off x="476250" y="0"/>
                <a:ext cx="428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5"/>
                  <a:buFont typeface="Arial"/>
                  <a:buNone/>
                </a:pPr>
                <a:r>
                  <a:rPr b="0" i="0" lang="en-IN" sz="1295" u="none" cap="none" strike="noStrike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Units Sold</a:t>
                </a:r>
                <a:endParaRPr b="0" i="0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58"/>
              <p:cNvSpPr/>
              <p:nvPr/>
            </p:nvSpPr>
            <p:spPr>
              <a:xfrm>
                <a:off x="0" y="381000"/>
                <a:ext cx="4953000" cy="9600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" name="Google Shape;1019;p58"/>
            <p:cNvGrpSpPr/>
            <p:nvPr/>
          </p:nvGrpSpPr>
          <p:grpSpPr>
            <a:xfrm>
              <a:off x="762000" y="4000500"/>
              <a:ext cx="4953000" cy="410210"/>
              <a:chOff x="0" y="0"/>
              <a:chExt cx="4953000" cy="410210"/>
            </a:xfrm>
          </p:grpSpPr>
          <p:sp>
            <p:nvSpPr>
              <p:cNvPr id="1020" name="Google Shape;1020;p58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021" name="Google Shape;1021;p58"/>
              <p:cNvSpPr txBox="1"/>
              <p:nvPr/>
            </p:nvSpPr>
            <p:spPr>
              <a:xfrm>
                <a:off x="476250" y="0"/>
                <a:ext cx="428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5"/>
                  <a:buFont typeface="Arial"/>
                  <a:buNone/>
                </a:pPr>
                <a:r>
                  <a:rPr b="0" i="0" lang="en-IN" sz="1295" u="none" cap="none" strike="noStrike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Unit Price</a:t>
                </a:r>
                <a:endParaRPr b="0" i="0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58"/>
              <p:cNvSpPr/>
              <p:nvPr/>
            </p:nvSpPr>
            <p:spPr>
              <a:xfrm>
                <a:off x="0" y="381000"/>
                <a:ext cx="4953000" cy="9600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3" name="Google Shape;1023;p58"/>
            <p:cNvGrpSpPr/>
            <p:nvPr/>
          </p:nvGrpSpPr>
          <p:grpSpPr>
            <a:xfrm>
              <a:off x="762000" y="4572000"/>
              <a:ext cx="4953000" cy="410210"/>
              <a:chOff x="0" y="0"/>
              <a:chExt cx="4953000" cy="410210"/>
            </a:xfrm>
          </p:grpSpPr>
          <p:sp>
            <p:nvSpPr>
              <p:cNvPr id="1024" name="Google Shape;1024;p58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025" name="Google Shape;1025;p58"/>
              <p:cNvSpPr txBox="1"/>
              <p:nvPr/>
            </p:nvSpPr>
            <p:spPr>
              <a:xfrm>
                <a:off x="476250" y="0"/>
                <a:ext cx="428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5"/>
                  <a:buFont typeface="Arial"/>
                  <a:buNone/>
                </a:pPr>
                <a:r>
                  <a:rPr b="0" i="0" lang="en-IN" sz="1295" u="none" cap="none" strike="noStrike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Cost</a:t>
                </a:r>
                <a:endParaRPr b="0" i="0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58"/>
              <p:cNvSpPr/>
              <p:nvPr/>
            </p:nvSpPr>
            <p:spPr>
              <a:xfrm>
                <a:off x="0" y="381000"/>
                <a:ext cx="4953000" cy="9600"/>
              </a:xfrm>
              <a:prstGeom prst="rect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7" name="Google Shape;1027;p58"/>
            <p:cNvGrpSpPr/>
            <p:nvPr/>
          </p:nvGrpSpPr>
          <p:grpSpPr>
            <a:xfrm>
              <a:off x="762000" y="5143500"/>
              <a:ext cx="4762650" cy="410210"/>
              <a:chOff x="0" y="0"/>
              <a:chExt cx="4762650" cy="410210"/>
            </a:xfrm>
          </p:grpSpPr>
          <p:sp>
            <p:nvSpPr>
              <p:cNvPr id="1028" name="Google Shape;1028;p58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1029" name="Google Shape;1029;p58"/>
              <p:cNvSpPr txBox="1"/>
              <p:nvPr/>
            </p:nvSpPr>
            <p:spPr>
              <a:xfrm>
                <a:off x="476250" y="0"/>
                <a:ext cx="428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5"/>
                  <a:buFont typeface="Arial"/>
                  <a:buNone/>
                </a:pPr>
                <a:r>
                  <a:rPr b="0" i="0" lang="en-IN" sz="1295" u="none" cap="none" strike="noStrike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Division</a:t>
                </a:r>
                <a:endParaRPr b="0" i="0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30" name="Google Shape;1030;p58"/>
          <p:cNvGrpSpPr/>
          <p:nvPr/>
        </p:nvGrpSpPr>
        <p:grpSpPr>
          <a:xfrm>
            <a:off x="6286500" y="1238250"/>
            <a:ext cx="5334000" cy="4857900"/>
            <a:chOff x="6286500" y="1238250"/>
            <a:chExt cx="5334000" cy="4857900"/>
          </a:xfrm>
        </p:grpSpPr>
        <p:sp>
          <p:nvSpPr>
            <p:cNvPr id="1031" name="Google Shape;1031;p58"/>
            <p:cNvSpPr/>
            <p:nvPr/>
          </p:nvSpPr>
          <p:spPr>
            <a:xfrm>
              <a:off x="6286500" y="1238250"/>
              <a:ext cx="5334000" cy="4857900"/>
            </a:xfrm>
            <a:prstGeom prst="roundRect">
              <a:avLst>
                <a:gd fmla="val 2941" name="adj"/>
              </a:avLst>
            </a:prstGeom>
            <a:solidFill>
              <a:srgbClr val="F0F7F8"/>
            </a:solidFill>
            <a:ln cap="flat" cmpd="sng" w="19050">
              <a:solidFill>
                <a:srgbClr val="2A7E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8"/>
            <p:cNvSpPr txBox="1"/>
            <p:nvPr/>
          </p:nvSpPr>
          <p:spPr>
            <a:xfrm>
              <a:off x="6667500" y="15240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IN" sz="2000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✓</a:t>
              </a:r>
              <a:endParaRPr b="0" i="0" sz="12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8"/>
            <p:cNvSpPr txBox="1"/>
            <p:nvPr/>
          </p:nvSpPr>
          <p:spPr>
            <a:xfrm>
              <a:off x="7429500" y="1571625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IN" sz="2200" u="none" cap="none" strike="noStrike">
                  <a:solidFill>
                    <a:srgbClr val="2A7E84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Data Integrity</a:t>
              </a:r>
              <a:endParaRPr b="0" i="0" sz="2200" u="none" cap="none" strike="noStrike">
                <a:solidFill>
                  <a:srgbClr val="2A7E84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</p:txBody>
        </p:sp>
        <p:sp>
          <p:nvSpPr>
            <p:cNvPr id="1034" name="Google Shape;1034;p58"/>
            <p:cNvSpPr txBox="1"/>
            <p:nvPr/>
          </p:nvSpPr>
          <p:spPr>
            <a:xfrm>
              <a:off x="6667500" y="2286000"/>
              <a:ext cx="4572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None/>
              </a:pPr>
              <a:r>
                <a:rPr b="0" i="0" lang="en-IN" sz="1295" u="none" cap="none" strike="noStrike">
                  <a:solidFill>
                    <a:srgbClr val="2A7E84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Handling Outliers</a:t>
              </a:r>
              <a:endParaRPr b="0" i="0" sz="1295" u="none" cap="none" strike="noStrike">
                <a:solidFill>
                  <a:srgbClr val="2A7E84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None/>
              </a:pPr>
              <a:r>
                <a:rPr b="0" i="0" lang="en-IN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Handled bulk-order volume variance and stabilize the model against extreme outliers.</a:t>
              </a:r>
              <a:endParaRPr b="0" i="0" sz="129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75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None/>
              </a:pPr>
              <a:r>
                <a:rPr b="0" i="0" lang="en-IN" sz="1295" u="none" cap="none" strike="noStrike">
                  <a:solidFill>
                    <a:srgbClr val="2A7E84"/>
                  </a:solidFill>
                  <a:latin typeface="Raleway SemiBold"/>
                  <a:ea typeface="Raleway SemiBold"/>
                  <a:cs typeface="Raleway SemiBold"/>
                  <a:sym typeface="Raleway SemiBold"/>
                </a:rPr>
                <a:t>Leakage Prevention</a:t>
              </a:r>
              <a:endParaRPr b="0" i="0" sz="1295" u="none" cap="none" strike="noStrike">
                <a:solidFill>
                  <a:srgbClr val="2A7E84"/>
                </a:solidFill>
                <a:latin typeface="Raleway SemiBold"/>
                <a:ea typeface="Raleway SemiBold"/>
                <a:cs typeface="Raleway SemiBold"/>
                <a:sym typeface="Raleway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295"/>
                <a:buFont typeface="Arial"/>
                <a:buNone/>
              </a:pPr>
              <a:r>
                <a:rPr b="0" i="0" lang="en-IN" sz="1295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Note: Gross Profit was retained as a feature since it is a legitimate cost-structure signal. It is NOT the target variable (Sales is). Feature importance confirms Cost and Gross Profit as top predictors, consistent with the algebraic relationship: Sales = Cost + Gross Profit.</a:t>
              </a:r>
              <a:endParaRPr b="0" i="0" sz="129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5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9"/>
          <p:cNvSpPr txBox="1"/>
          <p:nvPr/>
        </p:nvSpPr>
        <p:spPr>
          <a:xfrm>
            <a:off x="571500" y="381000"/>
            <a:ext cx="11049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 Performance Results</a:t>
            </a:r>
            <a:endParaRPr b="1" i="0" sz="36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46" name="Google Shape;1046;p59"/>
          <p:cNvGrpSpPr/>
          <p:nvPr/>
        </p:nvGrpSpPr>
        <p:grpSpPr>
          <a:xfrm>
            <a:off x="571500" y="1238250"/>
            <a:ext cx="5334000" cy="2286000"/>
            <a:chOff x="571500" y="1238250"/>
            <a:chExt cx="5334000" cy="2286000"/>
          </a:xfrm>
        </p:grpSpPr>
        <p:sp>
          <p:nvSpPr>
            <p:cNvPr id="1047" name="Google Shape;1047;p59"/>
            <p:cNvSpPr/>
            <p:nvPr/>
          </p:nvSpPr>
          <p:spPr>
            <a:xfrm>
              <a:off x="571500" y="1238250"/>
              <a:ext cx="5334000" cy="2286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9"/>
            <p:cNvSpPr/>
            <p:nvPr/>
          </p:nvSpPr>
          <p:spPr>
            <a:xfrm>
              <a:off x="571500" y="1238250"/>
              <a:ext cx="5334000" cy="428700"/>
            </a:xfrm>
            <a:prstGeom prst="roundRect">
              <a:avLst>
                <a:gd fmla="val 22222" name="adj"/>
              </a:avLst>
            </a:prstGeom>
            <a:solidFill>
              <a:srgbClr val="2A7E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9"/>
            <p:cNvSpPr txBox="1"/>
            <p:nvPr/>
          </p:nvSpPr>
          <p:spPr>
            <a:xfrm>
              <a:off x="762000" y="1285875"/>
              <a:ext cx="495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IN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Model Metrics Comparison</a:t>
              </a:r>
              <a:endParaRPr b="1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9"/>
            <p:cNvSpPr/>
            <p:nvPr/>
          </p:nvSpPr>
          <p:spPr>
            <a:xfrm>
              <a:off x="571500" y="1666875"/>
              <a:ext cx="1905000" cy="1857300"/>
            </a:xfrm>
            <a:prstGeom prst="roundRect">
              <a:avLst>
                <a:gd fmla="val 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9"/>
            <p:cNvSpPr txBox="1"/>
            <p:nvPr/>
          </p:nvSpPr>
          <p:spPr>
            <a:xfrm>
              <a:off x="666750" y="21907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333333"/>
                  </a:solidFill>
                  <a:latin typeface="Raleway"/>
                  <a:ea typeface="Raleway"/>
                  <a:cs typeface="Raleway"/>
                  <a:sym typeface="Raleway"/>
                </a:rPr>
                <a:t>Random Forest</a:t>
              </a:r>
              <a:endParaRPr b="1" i="0" sz="1300" u="none" cap="none" strike="noStrike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52" name="Google Shape;1052;p59"/>
            <p:cNvSpPr txBox="1"/>
            <p:nvPr/>
          </p:nvSpPr>
          <p:spPr>
            <a:xfrm>
              <a:off x="666750" y="28575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IN" sz="1300" u="none" cap="none" strike="noStrike">
                  <a:solidFill>
                    <a:srgbClr val="333333"/>
                  </a:solidFill>
                  <a:latin typeface="Raleway"/>
                  <a:ea typeface="Raleway"/>
                  <a:cs typeface="Raleway"/>
                  <a:sym typeface="Raleway"/>
                </a:rPr>
                <a:t>Linear Regression</a:t>
              </a:r>
              <a:endParaRPr b="1" i="0" sz="1300" u="none" cap="none" strike="noStrike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53" name="Google Shape;1053;p59"/>
            <p:cNvSpPr txBox="1"/>
            <p:nvPr/>
          </p:nvSpPr>
          <p:spPr>
            <a:xfrm>
              <a:off x="2667000" y="18097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rPr>
                <a:t>R²</a:t>
              </a:r>
              <a:endParaRPr b="1" i="0" sz="16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54" name="Google Shape;1054;p59"/>
            <p:cNvSpPr txBox="1"/>
            <p:nvPr/>
          </p:nvSpPr>
          <p:spPr>
            <a:xfrm>
              <a:off x="3810000" y="18097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rPr>
                <a:t>MAE</a:t>
              </a:r>
              <a:endParaRPr b="1" i="0" sz="16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55" name="Google Shape;1055;p59"/>
            <p:cNvSpPr txBox="1"/>
            <p:nvPr/>
          </p:nvSpPr>
          <p:spPr>
            <a:xfrm>
              <a:off x="4857750" y="18097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rPr>
                <a:t>RMSE</a:t>
              </a:r>
              <a:endParaRPr b="1" i="0" sz="16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56" name="Google Shape;1056;p59"/>
            <p:cNvSpPr txBox="1"/>
            <p:nvPr/>
          </p:nvSpPr>
          <p:spPr>
            <a:xfrm>
              <a:off x="2667000" y="2238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0.985</a:t>
              </a:r>
              <a:endParaRPr b="0" i="0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9"/>
            <p:cNvSpPr txBox="1"/>
            <p:nvPr/>
          </p:nvSpPr>
          <p:spPr>
            <a:xfrm>
              <a:off x="3810000" y="2238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0.41</a:t>
              </a:r>
              <a:endParaRPr b="0" i="0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9"/>
            <p:cNvSpPr txBox="1"/>
            <p:nvPr/>
          </p:nvSpPr>
          <p:spPr>
            <a:xfrm>
              <a:off x="4857750" y="2238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0.97</a:t>
              </a:r>
              <a:endParaRPr b="0" i="0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9"/>
            <p:cNvSpPr txBox="1"/>
            <p:nvPr/>
          </p:nvSpPr>
          <p:spPr>
            <a:xfrm>
              <a:off x="2667000" y="2905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0.99</a:t>
              </a:r>
              <a:endParaRPr b="0" i="0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9"/>
            <p:cNvSpPr txBox="1"/>
            <p:nvPr/>
          </p:nvSpPr>
          <p:spPr>
            <a:xfrm>
              <a:off x="3810000" y="2905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0.36</a:t>
              </a:r>
              <a:endParaRPr b="0" i="0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9"/>
            <p:cNvSpPr txBox="1"/>
            <p:nvPr/>
          </p:nvSpPr>
          <p:spPr>
            <a:xfrm>
              <a:off x="4857750" y="2905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0.93</a:t>
              </a:r>
              <a:endParaRPr b="0" i="0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p59"/>
          <p:cNvGrpSpPr/>
          <p:nvPr/>
        </p:nvGrpSpPr>
        <p:grpSpPr>
          <a:xfrm>
            <a:off x="6286500" y="1238250"/>
            <a:ext cx="5334000" cy="4857900"/>
            <a:chOff x="6286500" y="1238250"/>
            <a:chExt cx="5334000" cy="4857900"/>
          </a:xfrm>
        </p:grpSpPr>
        <p:sp>
          <p:nvSpPr>
            <p:cNvPr id="1063" name="Google Shape;1063;p59"/>
            <p:cNvSpPr/>
            <p:nvPr/>
          </p:nvSpPr>
          <p:spPr>
            <a:xfrm>
              <a:off x="6286500" y="1238250"/>
              <a:ext cx="5334000" cy="4857900"/>
            </a:xfrm>
            <a:prstGeom prst="roundRect">
              <a:avLst>
                <a:gd fmla="val 19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9"/>
            <p:cNvSpPr txBox="1"/>
            <p:nvPr/>
          </p:nvSpPr>
          <p:spPr>
            <a:xfrm>
              <a:off x="6477000" y="142875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IN" sz="16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rPr>
                <a:t>Feature Importance (Random Forest)</a:t>
              </a:r>
              <a:endParaRPr b="1" i="0" sz="16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1065" name="Google Shape;1065;p59"/>
            <p:cNvGrpSpPr/>
            <p:nvPr/>
          </p:nvGrpSpPr>
          <p:grpSpPr>
            <a:xfrm>
              <a:off x="6477000" y="1857375"/>
              <a:ext cx="5048250" cy="3095700"/>
              <a:chOff x="0" y="-47625"/>
              <a:chExt cx="5048250" cy="3095700"/>
            </a:xfrm>
          </p:grpSpPr>
          <p:sp>
            <p:nvSpPr>
              <p:cNvPr id="1066" name="Google Shape;1066;p59"/>
              <p:cNvSpPr/>
              <p:nvPr/>
            </p:nvSpPr>
            <p:spPr>
              <a:xfrm>
                <a:off x="0" y="0"/>
                <a:ext cx="38100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2A7E8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59"/>
              <p:cNvSpPr txBox="1"/>
              <p:nvPr/>
            </p:nvSpPr>
            <p:spPr>
              <a:xfrm>
                <a:off x="3905250" y="-4762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Cost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59"/>
              <p:cNvSpPr/>
              <p:nvPr/>
            </p:nvSpPr>
            <p:spPr>
              <a:xfrm>
                <a:off x="0" y="285750"/>
                <a:ext cx="34290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2A7E8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59"/>
              <p:cNvSpPr txBox="1"/>
              <p:nvPr/>
            </p:nvSpPr>
            <p:spPr>
              <a:xfrm>
                <a:off x="3905250" y="23812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Gross Profit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59"/>
              <p:cNvSpPr/>
              <p:nvPr/>
            </p:nvSpPr>
            <p:spPr>
              <a:xfrm>
                <a:off x="0" y="571500"/>
                <a:ext cx="26670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59"/>
              <p:cNvSpPr txBox="1"/>
              <p:nvPr/>
            </p:nvSpPr>
            <p:spPr>
              <a:xfrm>
                <a:off x="3905250" y="52387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Units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59"/>
              <p:cNvSpPr/>
              <p:nvPr/>
            </p:nvSpPr>
            <p:spPr>
              <a:xfrm>
                <a:off x="0" y="857250"/>
                <a:ext cx="20955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59"/>
              <p:cNvSpPr txBox="1"/>
              <p:nvPr/>
            </p:nvSpPr>
            <p:spPr>
              <a:xfrm>
                <a:off x="3905250" y="80962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Unit Price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59"/>
              <p:cNvSpPr/>
              <p:nvPr/>
            </p:nvSpPr>
            <p:spPr>
              <a:xfrm>
                <a:off x="0" y="1143000"/>
                <a:ext cx="17145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348E9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59"/>
              <p:cNvSpPr txBox="1"/>
              <p:nvPr/>
            </p:nvSpPr>
            <p:spPr>
              <a:xfrm>
                <a:off x="3905250" y="109537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Unit Cost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59"/>
              <p:cNvSpPr/>
              <p:nvPr/>
            </p:nvSpPr>
            <p:spPr>
              <a:xfrm>
                <a:off x="0" y="1428750"/>
                <a:ext cx="11430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88C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59"/>
              <p:cNvSpPr txBox="1"/>
              <p:nvPr/>
            </p:nvSpPr>
            <p:spPr>
              <a:xfrm>
                <a:off x="3905250" y="138112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Shipping Days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59"/>
              <p:cNvSpPr/>
              <p:nvPr/>
            </p:nvSpPr>
            <p:spPr>
              <a:xfrm>
                <a:off x="0" y="1714500"/>
                <a:ext cx="9525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88C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59"/>
              <p:cNvSpPr txBox="1"/>
              <p:nvPr/>
            </p:nvSpPr>
            <p:spPr>
              <a:xfrm>
                <a:off x="3905250" y="166687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Division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59"/>
              <p:cNvSpPr/>
              <p:nvPr/>
            </p:nvSpPr>
            <p:spPr>
              <a:xfrm>
                <a:off x="0" y="2000250"/>
                <a:ext cx="7620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88C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59"/>
              <p:cNvSpPr txBox="1"/>
              <p:nvPr/>
            </p:nvSpPr>
            <p:spPr>
              <a:xfrm>
                <a:off x="3905250" y="195262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Region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59"/>
              <p:cNvSpPr/>
              <p:nvPr/>
            </p:nvSpPr>
            <p:spPr>
              <a:xfrm>
                <a:off x="0" y="2286000"/>
                <a:ext cx="5715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59"/>
              <p:cNvSpPr txBox="1"/>
              <p:nvPr/>
            </p:nvSpPr>
            <p:spPr>
              <a:xfrm>
                <a:off x="3905250" y="223837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Quarter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59"/>
              <p:cNvSpPr/>
              <p:nvPr/>
            </p:nvSpPr>
            <p:spPr>
              <a:xfrm>
                <a:off x="0" y="2571750"/>
                <a:ext cx="3810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59"/>
              <p:cNvSpPr txBox="1"/>
              <p:nvPr/>
            </p:nvSpPr>
            <p:spPr>
              <a:xfrm>
                <a:off x="3905250" y="252412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Order Month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59"/>
              <p:cNvSpPr/>
              <p:nvPr/>
            </p:nvSpPr>
            <p:spPr>
              <a:xfrm>
                <a:off x="0" y="2857500"/>
                <a:ext cx="285900" cy="142800"/>
              </a:xfrm>
              <a:prstGeom prst="roundRect">
                <a:avLst>
                  <a:gd fmla="val 13333" name="adj"/>
                </a:avLst>
              </a:pr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59"/>
              <p:cNvSpPr txBox="1"/>
              <p:nvPr/>
            </p:nvSpPr>
            <p:spPr>
              <a:xfrm>
                <a:off x="3905250" y="2809875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IN" sz="1100" u="none" cap="none" strike="noStrik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Ship Mode</a:t>
                </a:r>
                <a:endParaRPr b="0" i="0" sz="11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88" name="Google Shape;1088;p59"/>
          <p:cNvGrpSpPr/>
          <p:nvPr/>
        </p:nvGrpSpPr>
        <p:grpSpPr>
          <a:xfrm>
            <a:off x="571500" y="3810000"/>
            <a:ext cx="5334000" cy="2286000"/>
            <a:chOff x="571500" y="3810000"/>
            <a:chExt cx="5334000" cy="2286000"/>
          </a:xfrm>
        </p:grpSpPr>
        <p:sp>
          <p:nvSpPr>
            <p:cNvPr id="1089" name="Google Shape;1089;p59"/>
            <p:cNvSpPr/>
            <p:nvPr/>
          </p:nvSpPr>
          <p:spPr>
            <a:xfrm>
              <a:off x="571500" y="3810000"/>
              <a:ext cx="5334000" cy="2286000"/>
            </a:xfrm>
            <a:prstGeom prst="roundRect">
              <a:avLst>
                <a:gd fmla="val 4166" name="adj"/>
              </a:avLst>
            </a:prstGeom>
            <a:solidFill>
              <a:srgbClr val="F0F7F8"/>
            </a:solidFill>
            <a:ln cap="flat" cmpd="sng" w="19050">
              <a:solidFill>
                <a:srgbClr val="2A7E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9"/>
            <p:cNvSpPr txBox="1"/>
            <p:nvPr/>
          </p:nvSpPr>
          <p:spPr>
            <a:xfrm>
              <a:off x="809625" y="4047236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A7E8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91" name="Google Shape;1091;p59"/>
            <p:cNvSpPr txBox="1"/>
            <p:nvPr/>
          </p:nvSpPr>
          <p:spPr>
            <a:xfrm>
              <a:off x="1524000" y="4048125"/>
              <a:ext cx="4191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2A7E84"/>
                  </a:solidFill>
                  <a:latin typeface="Raleway"/>
                  <a:ea typeface="Raleway"/>
                  <a:cs typeface="Raleway"/>
                  <a:sym typeface="Raleway"/>
                </a:rPr>
                <a:t>Key Model Insight</a:t>
              </a:r>
              <a:endParaRPr b="1" i="0" sz="1400" u="none" cap="none" strike="noStrike">
                <a:solidFill>
                  <a:srgbClr val="2A7E8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092" name="Google Shape;1092;p59"/>
            <p:cNvSpPr txBox="1"/>
            <p:nvPr/>
          </p:nvSpPr>
          <p:spPr>
            <a:xfrm>
              <a:off x="809625" y="4667250"/>
              <a:ext cx="485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Cost and Gross Profit are the dominant predictors, confirming that margin structure drives revenue more than volume alone.</a:t>
              </a:r>
              <a:endParaRPr b="0" i="0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0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0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Strategic Recommendations</a:t>
            </a:r>
            <a:endParaRPr b="1" i="0" sz="3600" u="none" cap="none" strike="noStrike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104" name="Google Shape;1104;p60"/>
          <p:cNvGrpSpPr/>
          <p:nvPr/>
        </p:nvGrpSpPr>
        <p:grpSpPr>
          <a:xfrm>
            <a:off x="571500" y="1714500"/>
            <a:ext cx="3524400" cy="2000100"/>
            <a:chOff x="0" y="0"/>
            <a:chExt cx="3524400" cy="2000100"/>
          </a:xfrm>
        </p:grpSpPr>
        <p:sp>
          <p:nvSpPr>
            <p:cNvPr id="1105" name="Google Shape;1105;p60"/>
            <p:cNvSpPr/>
            <p:nvPr/>
          </p:nvSpPr>
          <p:spPr>
            <a:xfrm>
              <a:off x="0" y="0"/>
              <a:ext cx="3524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0"/>
            <p:cNvSpPr/>
            <p:nvPr/>
          </p:nvSpPr>
          <p:spPr>
            <a:xfrm>
              <a:off x="0" y="0"/>
              <a:ext cx="571500" cy="20001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0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08" name="Google Shape;1108;p60"/>
            <p:cNvSpPr txBox="1"/>
            <p:nvPr/>
          </p:nvSpPr>
          <p:spPr>
            <a:xfrm>
              <a:off x="762000" y="238125"/>
              <a:ext cx="2571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Scale Q3 Inventory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Q4 consistently drives peak sales. Begin procurement and production ramp-up by August to avoid stockouts during the holiday surge.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109" name="Google Shape;1109;p60"/>
          <p:cNvGrpSpPr/>
          <p:nvPr/>
        </p:nvGrpSpPr>
        <p:grpSpPr>
          <a:xfrm>
            <a:off x="4333875" y="1714500"/>
            <a:ext cx="3524400" cy="2000100"/>
            <a:chOff x="0" y="0"/>
            <a:chExt cx="3524400" cy="2000100"/>
          </a:xfrm>
        </p:grpSpPr>
        <p:sp>
          <p:nvSpPr>
            <p:cNvPr id="1110" name="Google Shape;1110;p60"/>
            <p:cNvSpPr/>
            <p:nvPr/>
          </p:nvSpPr>
          <p:spPr>
            <a:xfrm>
              <a:off x="0" y="0"/>
              <a:ext cx="3524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0"/>
            <p:cNvSpPr/>
            <p:nvPr/>
          </p:nvSpPr>
          <p:spPr>
            <a:xfrm>
              <a:off x="0" y="0"/>
              <a:ext cx="571500" cy="20001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0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13" name="Google Shape;1113;p60"/>
            <p:cNvSpPr txBox="1"/>
            <p:nvPr/>
          </p:nvSpPr>
          <p:spPr>
            <a:xfrm>
              <a:off x="762000" y="238125"/>
              <a:ext cx="2571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Expand Gulf Region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The Gulf region is the lowest-performing market and represents untapped growth. Prioritise distribution partnerships and targeted promotions in this region.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114" name="Google Shape;1114;p60"/>
          <p:cNvGrpSpPr/>
          <p:nvPr/>
        </p:nvGrpSpPr>
        <p:grpSpPr>
          <a:xfrm>
            <a:off x="8096250" y="1714500"/>
            <a:ext cx="3524400" cy="2000100"/>
            <a:chOff x="0" y="0"/>
            <a:chExt cx="3524400" cy="2000100"/>
          </a:xfrm>
        </p:grpSpPr>
        <p:sp>
          <p:nvSpPr>
            <p:cNvPr id="1115" name="Google Shape;1115;p60"/>
            <p:cNvSpPr/>
            <p:nvPr/>
          </p:nvSpPr>
          <p:spPr>
            <a:xfrm>
              <a:off x="0" y="0"/>
              <a:ext cx="3524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0"/>
            <p:cNvSpPr/>
            <p:nvPr/>
          </p:nvSpPr>
          <p:spPr>
            <a:xfrm>
              <a:off x="0" y="0"/>
              <a:ext cx="571500" cy="20001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0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18" name="Google Shape;1118;p60"/>
            <p:cNvSpPr txBox="1"/>
            <p:nvPr/>
          </p:nvSpPr>
          <p:spPr>
            <a:xfrm>
              <a:off x="762000" y="238125"/>
              <a:ext cx="2571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Protect Chocolate Division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With 96% market concentration, any supply disruption in the Chocolate division has outsized business risk. Diversify factory dependencies and build safety stock.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119" name="Google Shape;1119;p60"/>
          <p:cNvGrpSpPr/>
          <p:nvPr/>
        </p:nvGrpSpPr>
        <p:grpSpPr>
          <a:xfrm>
            <a:off x="571500" y="4095750"/>
            <a:ext cx="3524400" cy="2000100"/>
            <a:chOff x="0" y="0"/>
            <a:chExt cx="3524400" cy="2000100"/>
          </a:xfrm>
        </p:grpSpPr>
        <p:sp>
          <p:nvSpPr>
            <p:cNvPr id="1120" name="Google Shape;1120;p60"/>
            <p:cNvSpPr/>
            <p:nvPr/>
          </p:nvSpPr>
          <p:spPr>
            <a:xfrm>
              <a:off x="0" y="0"/>
              <a:ext cx="3524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0"/>
            <p:cNvSpPr/>
            <p:nvPr/>
          </p:nvSpPr>
          <p:spPr>
            <a:xfrm>
              <a:off x="0" y="0"/>
              <a:ext cx="571500" cy="20001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0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23" name="Google Shape;1123;p60"/>
            <p:cNvSpPr txBox="1"/>
            <p:nvPr/>
          </p:nvSpPr>
          <p:spPr>
            <a:xfrm>
              <a:off x="762000" y="238125"/>
              <a:ext cx="2571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Leverage Top Customers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 small group of high-value customers drive disproportionate profit. Introduce a wholesale loyalty or priority fulfilment programme for these accounts.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124" name="Google Shape;1124;p60"/>
          <p:cNvGrpSpPr/>
          <p:nvPr/>
        </p:nvGrpSpPr>
        <p:grpSpPr>
          <a:xfrm>
            <a:off x="4333875" y="4095750"/>
            <a:ext cx="3524400" cy="2000100"/>
            <a:chOff x="0" y="0"/>
            <a:chExt cx="3524400" cy="2000100"/>
          </a:xfrm>
        </p:grpSpPr>
        <p:sp>
          <p:nvSpPr>
            <p:cNvPr id="1125" name="Google Shape;1125;p60"/>
            <p:cNvSpPr/>
            <p:nvPr/>
          </p:nvSpPr>
          <p:spPr>
            <a:xfrm>
              <a:off x="0" y="0"/>
              <a:ext cx="3524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60"/>
            <p:cNvSpPr/>
            <p:nvPr/>
          </p:nvSpPr>
          <p:spPr>
            <a:xfrm>
              <a:off x="0" y="0"/>
              <a:ext cx="571500" cy="20001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60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28" name="Google Shape;1128;p60"/>
            <p:cNvSpPr txBox="1"/>
            <p:nvPr/>
          </p:nvSpPr>
          <p:spPr>
            <a:xfrm>
              <a:off x="762000" y="238125"/>
              <a:ext cx="2571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Investigate Shipping Anomaly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Ship dates showing 5–6 year delays indicate a data entry error in the source system. Fixing this will unlock accurate logistics KPIs.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129" name="Google Shape;1129;p60"/>
          <p:cNvGrpSpPr/>
          <p:nvPr/>
        </p:nvGrpSpPr>
        <p:grpSpPr>
          <a:xfrm>
            <a:off x="8096250" y="4095750"/>
            <a:ext cx="3524400" cy="2000100"/>
            <a:chOff x="0" y="0"/>
            <a:chExt cx="3524400" cy="2000100"/>
          </a:xfrm>
        </p:grpSpPr>
        <p:sp>
          <p:nvSpPr>
            <p:cNvPr id="1130" name="Google Shape;1130;p60"/>
            <p:cNvSpPr/>
            <p:nvPr/>
          </p:nvSpPr>
          <p:spPr>
            <a:xfrm>
              <a:off x="0" y="0"/>
              <a:ext cx="35244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0"/>
            <p:cNvSpPr/>
            <p:nvPr/>
          </p:nvSpPr>
          <p:spPr>
            <a:xfrm>
              <a:off x="0" y="0"/>
              <a:ext cx="571500" cy="2000100"/>
            </a:xfrm>
            <a:prstGeom prst="roundRect">
              <a:avLst>
                <a:gd fmla="val 20000" name="adj"/>
              </a:avLst>
            </a:prstGeom>
            <a:solidFill>
              <a:srgbClr val="F0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0"/>
            <p:cNvSpPr txBox="1"/>
            <p:nvPr/>
          </p:nvSpPr>
          <p:spPr>
            <a:xfrm>
              <a:off x="0" y="225552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48E9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33" name="Google Shape;1133;p60"/>
            <p:cNvSpPr txBox="1"/>
            <p:nvPr/>
          </p:nvSpPr>
          <p:spPr>
            <a:xfrm>
              <a:off x="762000" y="238125"/>
              <a:ext cx="2571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Volume-Based Strategy</a:t>
              </a:r>
              <a:endParaRPr b="1" i="0" sz="1400" u="none" cap="none" strike="noStrike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IN" sz="1100" u="none" cap="none" strike="noStrike">
                  <a:solidFill>
                    <a:srgbClr val="666666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Units ordered is the strongest revenue predictor (r = 0.73). Sales incentives should be structured around volume targets, not just order count.</a:t>
              </a:r>
              <a:endParaRPr b="0" i="0" sz="1100" u="none" cap="none" strike="noStrike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sp>
        <p:nvSpPr>
          <p:cNvPr id="1134" name="Google Shape;1134;p6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A7E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61"/>
          <p:cNvSpPr txBox="1"/>
          <p:nvPr>
            <p:ph idx="1" type="subTitle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 fontScale="92500" lnSpcReduction="10000"/>
          </a:bodyPr>
          <a:lstStyle/>
          <a:p>
            <a:pPr indent="-457200" lvl="0" marL="609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000"/>
              <a:buNone/>
            </a:pPr>
            <a:r>
              <a:rPr b="1" lang="en-IN" sz="6400"/>
              <a:t>THANK YOU!</a:t>
            </a:r>
            <a:endParaRPr b="1"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opic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